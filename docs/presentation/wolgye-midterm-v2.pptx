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c61389c6b94d0b" /><Relationship Type="http://schemas.openxmlformats.org/officeDocument/2006/relationships/extended-properties" Target="/docProps/app.xml" Id="R56c04a41386a4e58" /><Relationship Type="http://schemas.openxmlformats.org/officeDocument/2006/relationships/officeDocument" Target="/ppt/presentation.xml" Id="R41b61ec698854358" /></Relationships>
</file>

<file path=ppt/presentation.xml><?xml version="1.0" encoding="utf-8"?>
<p:presentation xmlns:p="http://schemas.openxmlformats.org/presentationml/2006/main">
  <p:sldMasterIdLst>
    <p:sldMasterId xmlns:r="http://schemas.openxmlformats.org/officeDocument/2006/relationships" id="2147483648" r:id="Rcb1f1e9b896a4059"/>
  </p:sldMasterIdLst>
  <p:notesMasterIdLst>
    <p:notesMasterId xmlns:r="http://schemas.openxmlformats.org/officeDocument/2006/relationships" r:id="Rf7b80137325641fa"/>
  </p:notesMasterIdLst>
  <p:sldIdLst>
    <p:sldId xmlns:r="http://schemas.openxmlformats.org/officeDocument/2006/relationships" id="256" r:id="R1cc49e999b4a4676"/>
    <p:sldId xmlns:r="http://schemas.openxmlformats.org/officeDocument/2006/relationships" id="257" r:id="R707446c19d464f2f"/>
    <p:sldId xmlns:r="http://schemas.openxmlformats.org/officeDocument/2006/relationships" id="258" r:id="R1169ee4596f047ef"/>
    <p:sldId xmlns:r="http://schemas.openxmlformats.org/officeDocument/2006/relationships" id="259" r:id="R091d8d3ea5724f95"/>
    <p:sldId xmlns:r="http://schemas.openxmlformats.org/officeDocument/2006/relationships" id="260" r:id="Red84e6f9eb1b4a99"/>
    <p:sldId xmlns:r="http://schemas.openxmlformats.org/officeDocument/2006/relationships" id="261" r:id="R824c79646e494712"/>
    <p:sldId xmlns:r="http://schemas.openxmlformats.org/officeDocument/2006/relationships" id="262" r:id="R8fdb217011324055"/>
    <p:sldId xmlns:r="http://schemas.openxmlformats.org/officeDocument/2006/relationships" id="263" r:id="Rc69e25bb1edd46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89acbce7bd4426" /><Relationship Type="http://schemas.openxmlformats.org/officeDocument/2006/relationships/slideMaster" Target="/ppt/slideMasters/slideMaster1.xml" Id="Rcb1f1e9b896a4059" /><Relationship Type="http://schemas.openxmlformats.org/officeDocument/2006/relationships/notesMaster" Target="/ppt/notesMasters/notesMaster1.xml" Id="Rf7b80137325641fa" /><Relationship Type="http://schemas.openxmlformats.org/officeDocument/2006/relationships/presProps" Target="/ppt/presProps.xml" Id="Redbfb59971ae4793" /><Relationship Type="http://schemas.openxmlformats.org/officeDocument/2006/relationships/tableStyles" Target="/ppt/tableStyles.xml" Id="Rb8ceb843ca2a4071" /><Relationship Type="http://schemas.openxmlformats.org/officeDocument/2006/relationships/slide" Target="/ppt/slides/slide1.xml" Id="R1cc49e999b4a4676" /><Relationship Type="http://schemas.openxmlformats.org/officeDocument/2006/relationships/slide" Target="/ppt/slides/slide2.xml" Id="R707446c19d464f2f" /><Relationship Type="http://schemas.openxmlformats.org/officeDocument/2006/relationships/slide" Target="/ppt/slides/slide3.xml" Id="R1169ee4596f047ef" /><Relationship Type="http://schemas.openxmlformats.org/officeDocument/2006/relationships/slide" Target="/ppt/slides/slide4.xml" Id="R091d8d3ea5724f95" /><Relationship Type="http://schemas.openxmlformats.org/officeDocument/2006/relationships/slide" Target="/ppt/slides/slide5.xml" Id="Red84e6f9eb1b4a99" /><Relationship Type="http://schemas.openxmlformats.org/officeDocument/2006/relationships/slide" Target="/ppt/slides/slide6.xml" Id="R824c79646e494712" /><Relationship Type="http://schemas.openxmlformats.org/officeDocument/2006/relationships/slide" Target="/ppt/slides/slide7.xml" Id="R8fdb217011324055" /><Relationship Type="http://schemas.openxmlformats.org/officeDocument/2006/relationships/slide" Target="/ppt/slides/slide8.xml" Id="Rc69e25bb1edd46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77b9d30bad48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5cd2af2adf4bf1" /><Relationship Type="http://schemas.openxmlformats.org/officeDocument/2006/relationships/notesMaster" Target="/ppt/notesMasters/notesMaster1.xml" Id="Rdcd019f98d1442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a6f0c1f2be4202" /><Relationship Type="http://schemas.openxmlformats.org/officeDocument/2006/relationships/notesMaster" Target="/ppt/notesMasters/notesMaster1.xml" Id="Rc531b27d1bf541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cbd99c093846fb" /><Relationship Type="http://schemas.openxmlformats.org/officeDocument/2006/relationships/notesMaster" Target="/ppt/notesMasters/notesMaster1.xml" Id="R24663f2e8b2249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c291860cd44e97" /><Relationship Type="http://schemas.openxmlformats.org/officeDocument/2006/relationships/notesMaster" Target="/ppt/notesMasters/notesMaster1.xml" Id="Re5c7754db3b1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41b275ea5c4513" /><Relationship Type="http://schemas.openxmlformats.org/officeDocument/2006/relationships/notesMaster" Target="/ppt/notesMasters/notesMaster1.xml" Id="R887ef826fd414e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ce5b7d78634728" /><Relationship Type="http://schemas.openxmlformats.org/officeDocument/2006/relationships/notesMaster" Target="/ppt/notesMasters/notesMaster1.xml" Id="Rbe9e2a52931e44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922997c5594008" /><Relationship Type="http://schemas.openxmlformats.org/officeDocument/2006/relationships/notesMaster" Target="/ppt/notesMasters/notesMaster1.xml" Id="R746a467c473743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b3c4ce58224982" /><Relationship Type="http://schemas.openxmlformats.org/officeDocument/2006/relationships/notesMaster" Target="/ppt/notesMasters/notesMaster1.xml" Id="R5e91f10f189b4e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월계밥상은 그룹의 식당 선택과 사용자 기여형 메뉴 정보를 연결하는 서비스입니다. 오늘은 문제, 핵심 기능, 화면 시연, 개발 계획 순서로 소개합니다. 팀원 소개는 발표자가 추가합니다.</a:t>
            </a:r>
          </a:p>
          <a:p xmlns:a="http://schemas.openxmlformats.org/drawingml/2006/main">
            <a:r>
              <a:t>출처: docs/product-plan.html. 화면 이미지: public/midterm-demo.html의 자체 제작 시연 화면. 행사: https://www.kw-hackathon.co.kr/ (2026-09-25 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타깃은 광운대 주변에서 공강에 함께 식사하는 2~5명 그룹입니다. 예산·취향·복귀 시간을 맞추는 불편과 메뉴 정보 부족이 문제라는 가설입니다. 실제 빈도나 절감 효과는 아직 측정하지 않았으며 초기 사용자 인터뷰로 검증할 계획입니다.</a:t>
            </a:r>
          </a:p>
          <a:p xmlns:a="http://schemas.openxmlformats.org/drawingml/2006/main">
            <a:r>
              <a:t>출처: 사용자 아이디어, docs/product-plan.html.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초대 링크 또는 팀 코드로 모임에 참여하고 닉네임을 입력합니다. 각자 조건을 입력한 뒤 본인이 해석 결과를 확인합니다. 필수 조건과 선호를 구분하고 다른 참가자에게 개인 예산을 공개하지 않는 방식으로 설계했습니다. 현재 데모에서는 발표자가 참가자를 전환합니다.</a:t>
            </a:r>
          </a:p>
          <a:p xmlns:a="http://schemas.openxmlformats.org/drawingml/2006/main">
            <a:r>
              <a:t>출처: public/midterm-demo.html, docs/demo-guide.md.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조건을 만족하는 식당 중 선호 메뉴를 우선해 최대 3개 후보를 추천합니다. 갈 수 있는 식당을 여러 개 고르는 투표 방식이며 동률이면 예상 시간이 짧은 후보를 선택합니다. 조건을 만족하는 곳이 없으면 필터를 완화하지 않고 직접 조정하도록 안내합니다. 가격과 시간은 시연 값입니다.</a:t>
            </a:r>
          </a:p>
          <a:p xmlns:a="http://schemas.openxmlformats.org/drawingml/2006/main">
            <a:r>
              <a:t>출처: public/midterm-demo.html.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슬라이드에서 라이브 데모로 전환합니다. 모임 생성, 친구 2명 추가, 내 조건 저장, 추천, 골목반점 투표, 시연 친구 투표, 결과 순서로 진행합니다. 다녀왔어요에서 시연 메뉴판을 선택하고 가격 초안 12,000원을 확인 후 저장합니다. 다시 추천하면 만원 이하 후보에서 골목반점이 빠집니다. 실제 OCR과 카카오 전송은 아직 미연동입니다. 라이브 시연 실패 시 이 화면으로 흐름을 설명합니다.</a:t>
            </a:r>
          </a:p>
          <a:p xmlns:a="http://schemas.openxmlformats.org/drawingml/2006/main">
            <a:r>
              <a:t>데모 파일: public/midterm-demo.html</a:t>
            </a:r>
          </a:p>
          <a:p xmlns:a="http://schemas.openxmlformats.org/drawingml/2006/main">
            <a:r>
              <a:t>시연 안내: docs/demo-guide.md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등록과 수정이 단순한 게시글로 끝나지 않고 추천에 직접 쓰인다는 점이 핵심입니다. 메뉴판 사진으로 가격을 보완하고 간판 사진과 위치로 가게 등록을 제안합니다. 운영 단계에서는 확인 날짜, 수정 이력, 신고와 되돌리기가 필요합니다. 보상은 업로드 횟수보다 확인된 정보 갱신을 중심으로 설계할 예정입니다. 현재 포인트와 배지는 시연입니다.</a:t>
            </a:r>
          </a:p>
          <a:p xmlns:a="http://schemas.openxmlformats.org/drawingml/2006/main">
            <a:r>
              <a:t>출처: docs/product-plan.html, public/midterm-demo.html.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구현에는 React·Vite·Tailwind, Express 서버, 카카오 장소·블로그 검색과 NVIDIA NIM 호출 코드가 있습니다. 이번 중간발표 데모는 별도의 독립 HTML이며 외부 API를 호출하지 않습니다. 그룹 상태, 필터, 투표, 가격 수정은 한 브라우저에서 동작합니다. 본선용 DB와 공유 SDK는 검토안이며 NVIDIA 모델 및 도보 경로 API는 미정입니다.</a:t>
            </a:r>
          </a:p>
          <a:p xmlns:a="http://schemas.openxmlformats.org/drawingml/2006/main">
            <a:r>
              <a:t>출처: README.md, docs/demo-guide.md, docs/product-plan.html</a:t>
            </a:r>
          </a:p>
          <a:p xmlns:a="http://schemas.openxmlformats.org/drawingml/2006/main">
            <a:r>
              <a:t>API 참고: https://build.nvidia.com/ , https://developers.kakao.com/docs/ko/local/dev-guide , https://developers.kakao.com/docs/ko/kakaotalk-share/common , https://supabase.com/docs/guides/database/overview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9월 28일 중간발표 이후 사용자 의견과 API 검토를 반영합니다. 주변 식당 20~30곳의 실제 메뉴·가격 확보를 목표로 하며 아직 확보 완료를 의미하지 않습니다. 10월 8~9일 본선까지 실제 공동 접속과 정보 저장을 연결하고, 10월 11~13일 전시에서 주민 사용성을 검증할 계획입니다. 결정 시간과 정보 갱신율을 관찰해 사용자와 지역 가게에 도움이 되는지 확인하겠습니다.</a:t>
            </a:r>
          </a:p>
          <a:p xmlns:a="http://schemas.openxmlformats.org/drawingml/2006/main">
            <a:r>
              <a:t>행사 일정 출처: https://www.kw-hackathon.co.kr/ (2026-09-25 확인)</a:t>
            </a:r>
          </a:p>
          <a:p xmlns:a="http://schemas.openxmlformats.org/drawingml/2006/main">
            <a:r>
              <a:t>개발 일정·목표: docs/product-plan.html (팀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4a9171c08943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39168a1c14637" /><Relationship Type="http://schemas.openxmlformats.org/officeDocument/2006/relationships/slideLayout" Target="/ppt/slideLayouts/slideLayout1.xml" Id="Rd6b49b89ae654f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49b89ae654f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ba5930d4534643" /><Relationship Type="http://schemas.openxmlformats.org/officeDocument/2006/relationships/image" Target="/ppt/media/image.png" Id="R783ca7fee56c49cd" /><Relationship Type="http://schemas.openxmlformats.org/officeDocument/2006/relationships/notesSlide" Target="/ppt/notesSlides/notesSlide1.xml" Id="R81bd596169954c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e8d5074ce04907" /><Relationship Type="http://schemas.openxmlformats.org/officeDocument/2006/relationships/notesSlide" Target="/ppt/notesSlides/notesSlide2.xml" Id="R8cf7b10f4c134b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df007e057b41b8" /><Relationship Type="http://schemas.openxmlformats.org/officeDocument/2006/relationships/image" Target="/ppt/media/image2.png" Id="R5643d3fdd3f5435d" /><Relationship Type="http://schemas.openxmlformats.org/officeDocument/2006/relationships/notesSlide" Target="/ppt/notesSlides/notesSlide3.xml" Id="R5e3c26ff670549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eb575f3047456d" /><Relationship Type="http://schemas.openxmlformats.org/officeDocument/2006/relationships/image" Target="/ppt/media/image3.png" Id="R8195397883d944ea" /><Relationship Type="http://schemas.openxmlformats.org/officeDocument/2006/relationships/notesSlide" Target="/ppt/notesSlides/notesSlide4.xml" Id="Reef68268dca846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4580325d734f2b" /><Relationship Type="http://schemas.openxmlformats.org/officeDocument/2006/relationships/image" Target="/ppt/media/image4.png" Id="R6190d1dd3e264cdc" /><Relationship Type="http://schemas.openxmlformats.org/officeDocument/2006/relationships/notesSlide" Target="/ppt/notesSlides/notesSlide5.xml" Id="R986a2727bc1a44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e3611056d3462c" /><Relationship Type="http://schemas.openxmlformats.org/officeDocument/2006/relationships/image" Target="/ppt/media/image5.png" Id="Rbc509bd48a6e45c4" /><Relationship Type="http://schemas.openxmlformats.org/officeDocument/2006/relationships/notesSlide" Target="/ppt/notesSlides/notesSlide6.xml" Id="Rb53280e180334a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332d0c0cfa40ef" /><Relationship Type="http://schemas.openxmlformats.org/officeDocument/2006/relationships/notesSlide" Target="/ppt/notesSlides/notesSlide7.xml" Id="R0bfd3a87b4cd4d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14588a966745cc" /><Relationship Type="http://schemas.openxmlformats.org/officeDocument/2006/relationships/notesSlide" Target="/ppt/notesSlides/notesSlide8.xml" Id="R8c283eca2a984e65" /></Relationships>
</file>

<file path=ppt/slides/slide1.xml><?xml version="1.0" encoding="utf-8"?>
<p:sld xmlns:p="http://schemas.openxmlformats.org/presentationml/2006/main">
  <p:cSld>
    <p:bg>
      <p:bgPr>
        <a:solidFill xmlns:a="http://schemas.openxmlformats.org/drawingml/2006/main">
          <a:srgbClr val="173C32"/>
        </a:solidFill>
      </p:bgPr>
    </p:bg>
    <p:spTree>
      <p:nvGrpSpPr>
        <p:cNvPr id="1" name=""/>
        <p:cNvGrpSpPr/>
        <p:nvPr/>
      </p:nvGrpSpPr>
      <p:grpSpPr>
        <a:xfrm xmlns:a="http://schemas.openxmlformats.org/drawingml/2006/main"/>
      </p:grpSpPr>
      <p:sp>
        <p:nvSpPr>
          <p:cNvPr id="7" name="2026 KW해커톤 중간발표">
            <a:extLst xmlns:a="http://schemas.openxmlformats.org/drawingml/2006/main">
              <a:ext uri="{FF2B5EF4-FFF2-40B4-BE49-F238E27FC236}">
                <a16:creationId xmlns:a16="http://schemas.microsoft.com/office/drawing/2014/main" id="{B343BE98-01FF-4784-B2FA-1AC911C5AFAB}"/>
              </a:ext>
            </a:extLst>
          </p:cNvPr>
          <p:cNvSpPr>
            <a:spLocks xmlns:a="http://schemas.openxmlformats.org/drawingml/2006/main" noGrp="1"/>
          </p:cNvSpPr>
          <p:nvPr/>
        </p:nvSpPr>
        <p:spPr>
          <a:xfrm xmlns:a="http://schemas.openxmlformats.org/drawingml/2006/main">
            <a:off x="647700" y="5429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AD6C5"/>
                </a:solidFill>
                <a:latin typeface="Malgun Gothic"/>
                <a:ea typeface="Malgun Gothic"/>
                <a:cs typeface="Malgun Gothic"/>
              </a:defRPr>
            </a:pPr>
            <a:r>
              <a:rPr sz="1725" b="0">
                <a:solidFill>
                  <a:srgbClr val="CAD6C5"/>
                </a:solidFill>
                <a:latin typeface="Malgun Gothic"/>
                <a:ea typeface="Malgun Gothic"/>
                <a:cs typeface="Malgun Gothic"/>
              </a:rPr>
              <a:t>2026 KW해커톤 중간발표</a:t>
            </a:r>
          </a:p>
        </p:txBody>
      </p:sp>
      <p:sp>
        <p:nvSpPr>
          <p:cNvPr id="2" name="월계밥상">
            <a:extLst xmlns:a="http://schemas.openxmlformats.org/drawingml/2006/main">
              <a:ext uri="{FF2B5EF4-FFF2-40B4-BE49-F238E27FC236}">
                <a16:creationId xmlns:a16="http://schemas.microsoft.com/office/drawing/2014/main" id="{B3F0CFFE-8596-4C4D-B41A-5FEDD2D45223}"/>
              </a:ext>
            </a:extLst>
          </p:cNvPr>
          <p:cNvSpPr>
            <a:spLocks xmlns:a="http://schemas.openxmlformats.org/drawingml/2006/main" noGrp="1"/>
          </p:cNvSpPr>
          <p:nvPr/>
        </p:nvSpPr>
        <p:spPr>
          <a:xfrm xmlns:a="http://schemas.openxmlformats.org/drawingml/2006/main">
            <a:off x="628650" y="1952625"/>
            <a:ext cx="6572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Malgun Gothic"/>
                <a:ea typeface="Malgun Gothic"/>
                <a:cs typeface="Malgun Gothic"/>
              </a:defRPr>
            </a:pPr>
            <a:r>
              <a:rPr sz="6150" b="1">
                <a:solidFill>
                  <a:srgbClr val="FFFFFF"/>
                </a:solidFill>
                <a:latin typeface="Malgun Gothic"/>
                <a:ea typeface="Malgun Gothic"/>
                <a:cs typeface="Malgun Gothic"/>
              </a:rPr>
              <a:t>월계밥상</a:t>
            </a:r>
          </a:p>
        </p:txBody>
      </p:sp>
      <p:sp>
        <p:nvSpPr>
          <p:cNvPr id="3" name="함께 고르고 함께 채우는&#10;동네 식사 플랫폼">
            <a:extLst xmlns:a="http://schemas.openxmlformats.org/drawingml/2006/main">
              <a:ext uri="{FF2B5EF4-FFF2-40B4-BE49-F238E27FC236}">
                <a16:creationId xmlns:a16="http://schemas.microsoft.com/office/drawing/2014/main" id="{5BE8BF27-24F1-4F62-994B-C2D1775DC659}"/>
              </a:ext>
            </a:extLst>
          </p:cNvPr>
          <p:cNvSpPr>
            <a:spLocks xmlns:a="http://schemas.openxmlformats.org/drawingml/2006/main" noGrp="1"/>
          </p:cNvSpPr>
          <p:nvPr/>
        </p:nvSpPr>
        <p:spPr>
          <a:xfrm xmlns:a="http://schemas.openxmlformats.org/drawingml/2006/main">
            <a:off x="666750" y="3181350"/>
            <a:ext cx="609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EEF1DF"/>
                </a:solidFill>
                <a:latin typeface="Malgun Gothic"/>
                <a:ea typeface="Malgun Gothic"/>
                <a:cs typeface="Malgun Gothic"/>
              </a:defRPr>
            </a:pPr>
            <a:r>
              <a:rPr sz="2700" b="0">
                <a:solidFill>
                  <a:srgbClr val="EEF1DF"/>
                </a:solidFill>
                <a:latin typeface="Malgun Gothic"/>
                <a:ea typeface="Malgun Gothic"/>
                <a:cs typeface="Malgun Gothic"/>
              </a:rPr>
              <a:t>함께 고르고 함께 채우는</a:t>
            </a:r>
          </a:p>
          <a:p xmlns:a="http://schemas.openxmlformats.org/drawingml/2006/main">
            <a:pPr>
              <a:defRPr sz="2700" b="0">
                <a:solidFill>
                  <a:srgbClr val="EEF1DF"/>
                </a:solidFill>
                <a:latin typeface="Malgun Gothic"/>
                <a:ea typeface="Malgun Gothic"/>
                <a:cs typeface="Malgun Gothic"/>
              </a:defRPr>
            </a:pPr>
            <a:r>
              <a:rPr sz="2700" b="0">
                <a:solidFill>
                  <a:srgbClr val="EEF1DF"/>
                </a:solidFill>
                <a:latin typeface="Malgun Gothic"/>
                <a:ea typeface="Malgun Gothic"/>
                <a:cs typeface="Malgun Gothic"/>
              </a:rPr>
              <a:t>동네 식사 플랫폼</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83ca7fee56c49cd"/>
          <a:stretch xmlns:a="http://schemas.openxmlformats.org/drawingml/2006/main"/>
        </p:blipFill>
        <p:spPr>
          <a:xfrm xmlns:a="http://schemas.openxmlformats.org/drawingml/2006/main">
            <a:off x="7419975" y="1959331"/>
            <a:ext cx="4095750" cy="2758362"/>
          </a:xfrm>
          <a:prstGeom xmlns:a="http://schemas.openxmlformats.org/drawingml/2006/main" prst="rect">
            <a:avLst/>
          </a:prstGeom>
        </p:spPr>
      </p:pic>
      <p:sp>
        <p:nvSpPr>
          <p:cNvPr id="5" name="월계방위대   2026.09.28">
            <a:extLst xmlns:a="http://schemas.openxmlformats.org/drawingml/2006/main">
              <a:ext uri="{FF2B5EF4-FFF2-40B4-BE49-F238E27FC236}">
                <a16:creationId xmlns:a16="http://schemas.microsoft.com/office/drawing/2014/main" id="{7973BE31-983A-4933-83D1-95468EB69CFD}"/>
              </a:ext>
            </a:extLst>
          </p:cNvPr>
          <p:cNvSpPr>
            <a:spLocks xmlns:a="http://schemas.openxmlformats.org/drawingml/2006/main" noGrp="1"/>
          </p:cNvSpPr>
          <p:nvPr/>
        </p:nvSpPr>
        <p:spPr>
          <a:xfrm xmlns:a="http://schemas.openxmlformats.org/drawingml/2006/main">
            <a:off x="666750" y="5619750"/>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AD6C5"/>
                </a:solidFill>
                <a:latin typeface="Malgun Gothic"/>
                <a:ea typeface="Malgun Gothic"/>
                <a:cs typeface="Malgun Gothic"/>
              </a:defRPr>
            </a:pPr>
            <a:r>
              <a:rPr sz="1875" b="0">
                <a:solidFill>
                  <a:srgbClr val="CAD6C5"/>
                </a:solidFill>
                <a:latin typeface="Malgun Gothic"/>
                <a:ea typeface="Malgun Gothic"/>
                <a:cs typeface="Malgun Gothic"/>
              </a:rPr>
              <a:t>월계방위대   2026.09.28</a:t>
            </a:r>
          </a:p>
        </p:txBody>
      </p:sp>
      <p:sp>
        <p:nvSpPr>
          <p:cNvPr id="6" name="서비스명 가칭">
            <a:extLst xmlns:a="http://schemas.openxmlformats.org/drawingml/2006/main">
              <a:ext uri="{FF2B5EF4-FFF2-40B4-BE49-F238E27FC236}">
                <a16:creationId xmlns:a16="http://schemas.microsoft.com/office/drawing/2014/main" id="{C0DE6ADF-1CB9-4830-84E3-E310278F4950}"/>
              </a:ext>
            </a:extLst>
          </p:cNvPr>
          <p:cNvSpPr>
            <a:spLocks xmlns:a="http://schemas.openxmlformats.org/drawingml/2006/main" noGrp="1"/>
          </p:cNvSpPr>
          <p:nvPr/>
        </p:nvSpPr>
        <p:spPr>
          <a:xfrm xmlns:a="http://schemas.openxmlformats.org/drawingml/2006/main">
            <a:off x="676275" y="609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AD6C5"/>
                </a:solidFill>
                <a:latin typeface="Malgun Gothic"/>
                <a:ea typeface="Malgun Gothic"/>
                <a:cs typeface="Malgun Gothic"/>
              </a:defRPr>
            </a:pPr>
            <a:r>
              <a:rPr sz="1350" b="0">
                <a:solidFill>
                  <a:srgbClr val="CAD6C5"/>
                </a:solidFill>
                <a:latin typeface="Malgun Gothic"/>
                <a:ea typeface="Malgun Gothic"/>
                <a:cs typeface="Malgun Gothic"/>
              </a:rPr>
              <a:t>서비스명 가칭</a:t>
            </a:r>
          </a:p>
        </p:txBody>
      </p:sp>
    </p:spTree>
    <p:extLst>
      <p:ext uri="{BB962C8B-B14F-4D97-AF65-F5344CB8AC3E}">
        <p14:creationId xmlns:p14="http://schemas.microsoft.com/office/powerpoint/2010/main" val="420169599"/>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1" name="공강 점심의 식당 선택">
            <a:extLst xmlns:a="http://schemas.openxmlformats.org/drawingml/2006/main">
              <a:ext uri="{FF2B5EF4-FFF2-40B4-BE49-F238E27FC236}">
                <a16:creationId xmlns:a16="http://schemas.microsoft.com/office/drawing/2014/main" id="{E0A0A5FF-BB8B-4D93-AADF-3A8E790E4E2D}"/>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공강 점심의 식당 선택</a:t>
            </a:r>
          </a:p>
        </p:txBody>
      </p:sp>
      <p:sp>
        <p:nvSpPr>
          <p:cNvPr id="2" name="02">
            <a:extLst xmlns:a="http://schemas.openxmlformats.org/drawingml/2006/main">
              <a:ext uri="{FF2B5EF4-FFF2-40B4-BE49-F238E27FC236}">
                <a16:creationId xmlns:a16="http://schemas.microsoft.com/office/drawing/2014/main" id="{1137FBEE-0B57-490C-ACE2-4C3AF20C3919}"/>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02</a:t>
            </a:r>
          </a:p>
        </p:txBody>
      </p:sp>
      <p:sp>
        <p:nvSpPr>
          <p:cNvPr id="3" name="만원 이하로&#10;먹고 싶어요">
            <a:extLst xmlns:a="http://schemas.openxmlformats.org/drawingml/2006/main">
              <a:ext uri="{FF2B5EF4-FFF2-40B4-BE49-F238E27FC236}">
                <a16:creationId xmlns:a16="http://schemas.microsoft.com/office/drawing/2014/main" id="{380D2B47-1F6E-4DF5-8588-830F3D027831}"/>
              </a:ext>
            </a:extLst>
          </p:cNvPr>
          <p:cNvSpPr>
            <a:spLocks xmlns:a="http://schemas.openxmlformats.org/drawingml/2006/main" noGrp="1"/>
          </p:cNvSpPr>
          <p:nvPr/>
        </p:nvSpPr>
        <p:spPr>
          <a:xfrm xmlns:a="http://schemas.openxmlformats.org/drawingml/2006/main">
            <a:off x="666750" y="1981200"/>
            <a:ext cx="3381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만원 이하로</a:t>
            </a:r>
          </a:p>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먹고 싶어요</a:t>
            </a:r>
          </a:p>
        </p:txBody>
      </p:sp>
      <p:sp>
        <p:nvSpPr>
          <p:cNvPr id="4" name="짜장면이&#10;먹고 싶어요">
            <a:extLst xmlns:a="http://schemas.openxmlformats.org/drawingml/2006/main">
              <a:ext uri="{FF2B5EF4-FFF2-40B4-BE49-F238E27FC236}">
                <a16:creationId xmlns:a16="http://schemas.microsoft.com/office/drawing/2014/main" id="{52727C63-E4E4-4559-9488-03CD4D79077E}"/>
              </a:ext>
            </a:extLst>
          </p:cNvPr>
          <p:cNvSpPr>
            <a:spLocks xmlns:a="http://schemas.openxmlformats.org/drawingml/2006/main" noGrp="1"/>
          </p:cNvSpPr>
          <p:nvPr/>
        </p:nvSpPr>
        <p:spPr>
          <a:xfrm xmlns:a="http://schemas.openxmlformats.org/drawingml/2006/main">
            <a:off x="4381500" y="1981200"/>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짜장면이</a:t>
            </a:r>
          </a:p>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먹고 싶어요</a:t>
            </a:r>
          </a:p>
        </p:txBody>
      </p:sp>
      <p:sp>
        <p:nvSpPr>
          <p:cNvPr id="5" name="50분 안에&#10;돌아와야 해요">
            <a:extLst xmlns:a="http://schemas.openxmlformats.org/drawingml/2006/main">
              <a:ext uri="{FF2B5EF4-FFF2-40B4-BE49-F238E27FC236}">
                <a16:creationId xmlns:a16="http://schemas.microsoft.com/office/drawing/2014/main" id="{A597C009-DC9C-4162-9BD0-1F43D4AD58D4}"/>
              </a:ext>
            </a:extLst>
          </p:cNvPr>
          <p:cNvSpPr>
            <a:spLocks xmlns:a="http://schemas.openxmlformats.org/drawingml/2006/main" noGrp="1"/>
          </p:cNvSpPr>
          <p:nvPr/>
        </p:nvSpPr>
        <p:spPr>
          <a:xfrm xmlns:a="http://schemas.openxmlformats.org/drawingml/2006/main">
            <a:off x="8096250" y="1981200"/>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50분 안에</a:t>
            </a:r>
          </a:p>
          <a:p xmlns:a="http://schemas.openxmlformats.org/drawingml/2006/main">
            <a:pPr>
              <a:defRPr sz="2925" b="1">
                <a:solidFill>
                  <a:srgbClr val="173C32"/>
                </a:solidFill>
                <a:latin typeface="Malgun Gothic"/>
                <a:ea typeface="Malgun Gothic"/>
                <a:cs typeface="Malgun Gothic"/>
              </a:defRPr>
            </a:pPr>
            <a:r>
              <a:rPr sz="2925" b="1">
                <a:solidFill>
                  <a:srgbClr val="173C32"/>
                </a:solidFill>
                <a:latin typeface="Malgun Gothic"/>
                <a:ea typeface="Malgun Gothic"/>
                <a:cs typeface="Malgun Gothic"/>
              </a:rPr>
              <a:t>돌아와야 해요</a:t>
            </a:r>
          </a:p>
        </p:txBody>
      </p:sp>
      <p:sp>
        <p:nvSpPr>
          <p:cNvPr id="6" name="예산 상한">
            <a:extLst xmlns:a="http://schemas.openxmlformats.org/drawingml/2006/main">
              <a:ext uri="{FF2B5EF4-FFF2-40B4-BE49-F238E27FC236}">
                <a16:creationId xmlns:a16="http://schemas.microsoft.com/office/drawing/2014/main" id="{1378C923-B64D-4CE9-AC4C-E49145294A83}"/>
              </a:ext>
            </a:extLst>
          </p:cNvPr>
          <p:cNvSpPr>
            <a:spLocks xmlns:a="http://schemas.openxmlformats.org/drawingml/2006/main" noGrp="1"/>
          </p:cNvSpPr>
          <p:nvPr/>
        </p:nvSpPr>
        <p:spPr>
          <a:xfrm xmlns:a="http://schemas.openxmlformats.org/drawingml/2006/main">
            <a:off x="695325" y="35814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F613B"/>
                </a:solidFill>
                <a:latin typeface="Malgun Gothic"/>
                <a:ea typeface="Malgun Gothic"/>
                <a:cs typeface="Malgun Gothic"/>
              </a:defRPr>
            </a:pPr>
            <a:r>
              <a:rPr sz="1800" b="0">
                <a:solidFill>
                  <a:srgbClr val="CF613B"/>
                </a:solidFill>
                <a:latin typeface="Malgun Gothic"/>
                <a:ea typeface="Malgun Gothic"/>
                <a:cs typeface="Malgun Gothic"/>
              </a:rPr>
              <a:t>예산 상한</a:t>
            </a:r>
          </a:p>
        </p:txBody>
      </p:sp>
      <p:sp>
        <p:nvSpPr>
          <p:cNvPr id="7" name="메뉴 선호">
            <a:extLst xmlns:a="http://schemas.openxmlformats.org/drawingml/2006/main">
              <a:ext uri="{FF2B5EF4-FFF2-40B4-BE49-F238E27FC236}">
                <a16:creationId xmlns:a16="http://schemas.microsoft.com/office/drawing/2014/main" id="{3E7580FB-E12B-4334-8235-0BE7F9DEC461}"/>
              </a:ext>
            </a:extLst>
          </p:cNvPr>
          <p:cNvSpPr>
            <a:spLocks xmlns:a="http://schemas.openxmlformats.org/drawingml/2006/main" noGrp="1"/>
          </p:cNvSpPr>
          <p:nvPr/>
        </p:nvSpPr>
        <p:spPr>
          <a:xfrm xmlns:a="http://schemas.openxmlformats.org/drawingml/2006/main">
            <a:off x="4410075" y="35814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F613B"/>
                </a:solidFill>
                <a:latin typeface="Malgun Gothic"/>
                <a:ea typeface="Malgun Gothic"/>
                <a:cs typeface="Malgun Gothic"/>
              </a:defRPr>
            </a:pPr>
            <a:r>
              <a:rPr sz="1800" b="0">
                <a:solidFill>
                  <a:srgbClr val="CF613B"/>
                </a:solidFill>
                <a:latin typeface="Malgun Gothic"/>
                <a:ea typeface="Malgun Gothic"/>
                <a:cs typeface="Malgun Gothic"/>
              </a:rPr>
              <a:t>메뉴 선호</a:t>
            </a:r>
          </a:p>
        </p:txBody>
      </p:sp>
      <p:sp>
        <p:nvSpPr>
          <p:cNvPr id="8" name="이동과 식사 시간">
            <a:extLst xmlns:a="http://schemas.openxmlformats.org/drawingml/2006/main">
              <a:ext uri="{FF2B5EF4-FFF2-40B4-BE49-F238E27FC236}">
                <a16:creationId xmlns:a16="http://schemas.microsoft.com/office/drawing/2014/main" id="{66060AEB-ADE4-4581-8BDE-9460C296A609}"/>
              </a:ext>
            </a:extLst>
          </p:cNvPr>
          <p:cNvSpPr>
            <a:spLocks xmlns:a="http://schemas.openxmlformats.org/drawingml/2006/main" noGrp="1"/>
          </p:cNvSpPr>
          <p:nvPr/>
        </p:nvSpPr>
        <p:spPr>
          <a:xfrm xmlns:a="http://schemas.openxmlformats.org/drawingml/2006/main">
            <a:off x="8124825" y="35814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F613B"/>
                </a:solidFill>
                <a:latin typeface="Malgun Gothic"/>
                <a:ea typeface="Malgun Gothic"/>
                <a:cs typeface="Malgun Gothic"/>
              </a:defRPr>
            </a:pPr>
            <a:r>
              <a:rPr sz="1800" b="0">
                <a:solidFill>
                  <a:srgbClr val="CF613B"/>
                </a:solidFill>
                <a:latin typeface="Malgun Gothic"/>
                <a:ea typeface="Malgun Gothic"/>
                <a:cs typeface="Malgun Gothic"/>
              </a:rPr>
              <a:t>이동과 식사 시간</a:t>
            </a:r>
          </a:p>
        </p:txBody>
      </p:sp>
      <p:sp>
        <p:nvSpPr>
          <p:cNvPr id="9" name="다른 조건을 맞추려면&#10;정확한 메뉴와 가격 정보가 필요합니다">
            <a:extLst xmlns:a="http://schemas.openxmlformats.org/drawingml/2006/main">
              <a:ext uri="{FF2B5EF4-FFF2-40B4-BE49-F238E27FC236}">
                <a16:creationId xmlns:a16="http://schemas.microsoft.com/office/drawing/2014/main" id="{DF69305A-A0F5-49E8-B735-63F040146FFA}"/>
              </a:ext>
            </a:extLst>
          </p:cNvPr>
          <p:cNvSpPr>
            <a:spLocks xmlns:a="http://schemas.openxmlformats.org/drawingml/2006/main" noGrp="1"/>
          </p:cNvSpPr>
          <p:nvPr/>
        </p:nvSpPr>
        <p:spPr>
          <a:xfrm xmlns:a="http://schemas.openxmlformats.org/drawingml/2006/main">
            <a:off x="685800" y="46672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3C32"/>
                </a:solidFill>
                <a:latin typeface="Malgun Gothic"/>
                <a:ea typeface="Malgun Gothic"/>
                <a:cs typeface="Malgun Gothic"/>
              </a:defRPr>
            </a:pPr>
            <a:r>
              <a:rPr sz="2475" b="1">
                <a:solidFill>
                  <a:srgbClr val="173C32"/>
                </a:solidFill>
                <a:latin typeface="Malgun Gothic"/>
                <a:ea typeface="Malgun Gothic"/>
                <a:cs typeface="Malgun Gothic"/>
              </a:rPr>
              <a:t>다른 조건을 맞추려면</a:t>
            </a:r>
          </a:p>
          <a:p xmlns:a="http://schemas.openxmlformats.org/drawingml/2006/main">
            <a:pPr>
              <a:defRPr sz="2475" b="1">
                <a:solidFill>
                  <a:srgbClr val="173C32"/>
                </a:solidFill>
                <a:latin typeface="Malgun Gothic"/>
                <a:ea typeface="Malgun Gothic"/>
                <a:cs typeface="Malgun Gothic"/>
              </a:defRPr>
            </a:pPr>
            <a:r>
              <a:rPr sz="2475" b="1">
                <a:solidFill>
                  <a:srgbClr val="173C32"/>
                </a:solidFill>
                <a:latin typeface="Malgun Gothic"/>
                <a:ea typeface="Malgun Gothic"/>
                <a:cs typeface="Malgun Gothic"/>
              </a:rPr>
              <a:t>정확한 메뉴와 가격 정보가 필요합니다</a:t>
            </a:r>
          </a:p>
        </p:txBody>
      </p:sp>
      <p:sp>
        <p:nvSpPr>
          <p:cNvPr id="10" name="초기 대상: 광운대 주변 2~5명 식사 모임   /   사용자 ">
            <a:extLst xmlns:a="http://schemas.openxmlformats.org/drawingml/2006/main">
              <a:ext uri="{FF2B5EF4-FFF2-40B4-BE49-F238E27FC236}">
                <a16:creationId xmlns:a16="http://schemas.microsoft.com/office/drawing/2014/main" id="{54FABD7C-219F-41F9-A397-38B8EC6A1477}"/>
              </a:ext>
            </a:extLst>
          </p:cNvPr>
          <p:cNvSpPr>
            <a:spLocks xmlns:a="http://schemas.openxmlformats.org/drawingml/2006/main" noGrp="1"/>
          </p:cNvSpPr>
          <p:nvPr/>
        </p:nvSpPr>
        <p:spPr>
          <a:xfrm xmlns:a="http://schemas.openxmlformats.org/drawingml/2006/main">
            <a:off x="695325" y="61055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56A"/>
                </a:solidFill>
                <a:latin typeface="Malgun Gothic"/>
                <a:ea typeface="Malgun Gothic"/>
                <a:cs typeface="Malgun Gothic"/>
              </a:defRPr>
            </a:pPr>
            <a:r>
              <a:rPr sz="1350" b="0">
                <a:solidFill>
                  <a:srgbClr val="64756A"/>
                </a:solidFill>
                <a:latin typeface="Malgun Gothic"/>
                <a:ea typeface="Malgun Gothic"/>
                <a:cs typeface="Malgun Gothic"/>
              </a:rPr>
              <a:t>초기 대상: 광운대 주변 2~5명 식사 모임   /   사용자 인터뷰로 검증할 문제 가설</a:t>
            </a:r>
          </a:p>
        </p:txBody>
      </p:sp>
    </p:spTree>
    <p:extLst>
      <p:ext uri="{BB962C8B-B14F-4D97-AF65-F5344CB8AC3E}">
        <p14:creationId xmlns:p14="http://schemas.microsoft.com/office/powerpoint/2010/main" val="371550779"/>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그룹의 조건을 모으는 방법">
            <a:extLst xmlns:a="http://schemas.openxmlformats.org/drawingml/2006/main">
              <a:ext uri="{FF2B5EF4-FFF2-40B4-BE49-F238E27FC236}">
                <a16:creationId xmlns:a16="http://schemas.microsoft.com/office/drawing/2014/main" id="{A886E6CB-D85B-4E57-AC32-A809D38E0CF2}"/>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그룹의 조건을 모으는 방법</a:t>
            </a:r>
          </a:p>
        </p:txBody>
      </p:sp>
      <p:sp>
        <p:nvSpPr>
          <p:cNvPr id="2" name="03">
            <a:extLst xmlns:a="http://schemas.openxmlformats.org/drawingml/2006/main">
              <a:ext uri="{FF2B5EF4-FFF2-40B4-BE49-F238E27FC236}">
                <a16:creationId xmlns:a16="http://schemas.microsoft.com/office/drawing/2014/main" id="{30207933-7EDA-43C8-9C8F-90D690DB3698}"/>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03</a:t>
            </a:r>
          </a:p>
        </p:txBody>
      </p:sp>
      <p:sp>
        <p:nvSpPr>
          <p:cNvPr id="3" name="1  모임 생성과 초대">
            <a:extLst xmlns:a="http://schemas.openxmlformats.org/drawingml/2006/main">
              <a:ext uri="{FF2B5EF4-FFF2-40B4-BE49-F238E27FC236}">
                <a16:creationId xmlns:a16="http://schemas.microsoft.com/office/drawing/2014/main" id="{969CA3AD-4E56-4C96-8FDD-1B8D6CAC9DE3}"/>
              </a:ext>
            </a:extLst>
          </p:cNvPr>
          <p:cNvSpPr>
            <a:spLocks xmlns:a="http://schemas.openxmlformats.org/drawingml/2006/main" noGrp="1"/>
          </p:cNvSpPr>
          <p:nvPr/>
        </p:nvSpPr>
        <p:spPr>
          <a:xfrm xmlns:a="http://schemas.openxmlformats.org/drawingml/2006/main">
            <a:off x="619125" y="18859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32"/>
                </a:solidFill>
                <a:latin typeface="Malgun Gothic"/>
                <a:ea typeface="Malgun Gothic"/>
                <a:cs typeface="Malgun Gothic"/>
              </a:defRPr>
            </a:pPr>
            <a:r>
              <a:rPr sz="2175" b="1">
                <a:solidFill>
                  <a:srgbClr val="173C32"/>
                </a:solidFill>
                <a:latin typeface="Malgun Gothic"/>
                <a:ea typeface="Malgun Gothic"/>
                <a:cs typeface="Malgun Gothic"/>
              </a:rPr>
              <a:t>1  모임 생성과 초대</a:t>
            </a:r>
          </a:p>
        </p:txBody>
      </p:sp>
      <p:sp>
        <p:nvSpPr>
          <p:cNvPr id="4" name="카카오톡 링크로 참여하는 흐름">
            <a:extLst xmlns:a="http://schemas.openxmlformats.org/drawingml/2006/main">
              <a:ext uri="{FF2B5EF4-FFF2-40B4-BE49-F238E27FC236}">
                <a16:creationId xmlns:a16="http://schemas.microsoft.com/office/drawing/2014/main" id="{6E17D566-426E-433B-8CA7-D6505DC32C4B}"/>
              </a:ext>
            </a:extLst>
          </p:cNvPr>
          <p:cNvSpPr>
            <a:spLocks xmlns:a="http://schemas.openxmlformats.org/drawingml/2006/main" noGrp="1"/>
          </p:cNvSpPr>
          <p:nvPr/>
        </p:nvSpPr>
        <p:spPr>
          <a:xfrm xmlns:a="http://schemas.openxmlformats.org/drawingml/2006/main">
            <a:off x="1009650" y="24288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56A"/>
                </a:solidFill>
                <a:latin typeface="Malgun Gothic"/>
                <a:ea typeface="Malgun Gothic"/>
                <a:cs typeface="Malgun Gothic"/>
              </a:defRPr>
            </a:pPr>
            <a:r>
              <a:rPr sz="1800" b="0">
                <a:solidFill>
                  <a:srgbClr val="64756A"/>
                </a:solidFill>
                <a:latin typeface="Malgun Gothic"/>
                <a:ea typeface="Malgun Gothic"/>
                <a:cs typeface="Malgun Gothic"/>
              </a:rPr>
              <a:t>카카오톡 링크로 참여하는 흐름</a:t>
            </a:r>
          </a:p>
        </p:txBody>
      </p:sp>
      <p:sp>
        <p:nvSpPr>
          <p:cNvPr id="5" name="2  참가자별 조건 입력">
            <a:extLst xmlns:a="http://schemas.openxmlformats.org/drawingml/2006/main">
              <a:ext uri="{FF2B5EF4-FFF2-40B4-BE49-F238E27FC236}">
                <a16:creationId xmlns:a16="http://schemas.microsoft.com/office/drawing/2014/main" id="{7DCD8650-0015-451F-995C-B31066D14515}"/>
              </a:ext>
            </a:extLst>
          </p:cNvPr>
          <p:cNvSpPr>
            <a:spLocks xmlns:a="http://schemas.openxmlformats.org/drawingml/2006/main" noGrp="1"/>
          </p:cNvSpPr>
          <p:nvPr/>
        </p:nvSpPr>
        <p:spPr>
          <a:xfrm xmlns:a="http://schemas.openxmlformats.org/drawingml/2006/main">
            <a:off x="619125" y="33528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32"/>
                </a:solidFill>
                <a:latin typeface="Malgun Gothic"/>
                <a:ea typeface="Malgun Gothic"/>
                <a:cs typeface="Malgun Gothic"/>
              </a:defRPr>
            </a:pPr>
            <a:r>
              <a:rPr sz="2175" b="1">
                <a:solidFill>
                  <a:srgbClr val="173C32"/>
                </a:solidFill>
                <a:latin typeface="Malgun Gothic"/>
                <a:ea typeface="Malgun Gothic"/>
                <a:cs typeface="Malgun Gothic"/>
              </a:rPr>
              <a:t>2  참가자별 조건 입력</a:t>
            </a:r>
          </a:p>
        </p:txBody>
      </p:sp>
      <p:sp>
        <p:nvSpPr>
          <p:cNvPr id="6" name="예산과 복귀 시간은 필수&#10;먹고 싶은 메뉴는 선호">
            <a:extLst xmlns:a="http://schemas.openxmlformats.org/drawingml/2006/main">
              <a:ext uri="{FF2B5EF4-FFF2-40B4-BE49-F238E27FC236}">
                <a16:creationId xmlns:a16="http://schemas.microsoft.com/office/drawing/2014/main" id="{67EDC3AE-2771-4FBF-969A-209428048168}"/>
              </a:ext>
            </a:extLst>
          </p:cNvPr>
          <p:cNvSpPr>
            <a:spLocks xmlns:a="http://schemas.openxmlformats.org/drawingml/2006/main" noGrp="1"/>
          </p:cNvSpPr>
          <p:nvPr/>
        </p:nvSpPr>
        <p:spPr>
          <a:xfrm xmlns:a="http://schemas.openxmlformats.org/drawingml/2006/main">
            <a:off x="1009650" y="39052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56A"/>
                </a:solidFill>
                <a:latin typeface="Malgun Gothic"/>
                <a:ea typeface="Malgun Gothic"/>
                <a:cs typeface="Malgun Gothic"/>
              </a:defRPr>
            </a:pPr>
            <a:r>
              <a:rPr sz="1800" b="0">
                <a:solidFill>
                  <a:srgbClr val="64756A"/>
                </a:solidFill>
                <a:latin typeface="Malgun Gothic"/>
                <a:ea typeface="Malgun Gothic"/>
                <a:cs typeface="Malgun Gothic"/>
              </a:rPr>
              <a:t>예산과 복귀 시간은 필수</a:t>
            </a:r>
          </a:p>
          <a:p xmlns:a="http://schemas.openxmlformats.org/drawingml/2006/main">
            <a:pPr>
              <a:defRPr sz="1800" b="0">
                <a:solidFill>
                  <a:srgbClr val="64756A"/>
                </a:solidFill>
                <a:latin typeface="Malgun Gothic"/>
                <a:ea typeface="Malgun Gothic"/>
                <a:cs typeface="Malgun Gothic"/>
              </a:defRPr>
            </a:pPr>
            <a:r>
              <a:rPr sz="1800" b="0">
                <a:solidFill>
                  <a:srgbClr val="64756A"/>
                </a:solidFill>
                <a:latin typeface="Malgun Gothic"/>
                <a:ea typeface="Malgun Gothic"/>
                <a:cs typeface="Malgun Gothic"/>
              </a:rPr>
              <a:t>먹고 싶은 메뉴는 선호</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643d3fdd3f5435d"/>
          <a:stretch xmlns:a="http://schemas.openxmlformats.org/drawingml/2006/main"/>
        </p:blipFill>
        <p:spPr>
          <a:xfrm xmlns:a="http://schemas.openxmlformats.org/drawingml/2006/main">
            <a:off x="5572125" y="1606478"/>
            <a:ext cx="6048375" cy="4254644"/>
          </a:xfrm>
          <a:prstGeom xmlns:a="http://schemas.openxmlformats.org/drawingml/2006/main" prst="rect">
            <a:avLst/>
          </a:prstGeom>
        </p:spPr>
      </p:pic>
      <p:sp>
        <p:nvSpPr>
          <p:cNvPr id="8" name="현재는 한 브라우저에서 참가자를 전환하는 시연입니다">
            <a:extLst xmlns:a="http://schemas.openxmlformats.org/drawingml/2006/main">
              <a:ext uri="{FF2B5EF4-FFF2-40B4-BE49-F238E27FC236}">
                <a16:creationId xmlns:a16="http://schemas.microsoft.com/office/drawing/2014/main" id="{C6EC6321-D31D-4B41-8B80-D95F01AB92ED}"/>
              </a:ext>
            </a:extLst>
          </p:cNvPr>
          <p:cNvSpPr>
            <a:spLocks xmlns:a="http://schemas.openxmlformats.org/drawingml/2006/main" noGrp="1"/>
          </p:cNvSpPr>
          <p:nvPr/>
        </p:nvSpPr>
        <p:spPr>
          <a:xfrm xmlns:a="http://schemas.openxmlformats.org/drawingml/2006/main">
            <a:off x="619125" y="60674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56A"/>
                </a:solidFill>
                <a:latin typeface="Malgun Gothic"/>
                <a:ea typeface="Malgun Gothic"/>
                <a:cs typeface="Malgun Gothic"/>
              </a:defRPr>
            </a:pPr>
            <a:r>
              <a:rPr sz="1500" b="0">
                <a:solidFill>
                  <a:srgbClr val="64756A"/>
                </a:solidFill>
                <a:latin typeface="Malgun Gothic"/>
                <a:ea typeface="Malgun Gothic"/>
                <a:cs typeface="Malgun Gothic"/>
              </a:rPr>
              <a:t>현재는 한 브라우저에서 참가자를 전환하는 시연입니다</a:t>
            </a:r>
          </a:p>
        </p:txBody>
      </p:sp>
    </p:spTree>
    <p:extLst>
      <p:ext uri="{BB962C8B-B14F-4D97-AF65-F5344CB8AC3E}">
        <p14:creationId xmlns:p14="http://schemas.microsoft.com/office/powerpoint/2010/main" val="983573098"/>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식당 후보와 함께 정하는 투표">
            <a:extLst xmlns:a="http://schemas.openxmlformats.org/drawingml/2006/main">
              <a:ext uri="{FF2B5EF4-FFF2-40B4-BE49-F238E27FC236}">
                <a16:creationId xmlns:a16="http://schemas.microsoft.com/office/drawing/2014/main" id="{4FE1BAF5-3333-4A28-A02F-F1F32C6F2949}"/>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식당 후보와 함께 정하는 투표</a:t>
            </a:r>
          </a:p>
        </p:txBody>
      </p:sp>
      <p:sp>
        <p:nvSpPr>
          <p:cNvPr id="2" name="04">
            <a:extLst xmlns:a="http://schemas.openxmlformats.org/drawingml/2006/main">
              <a:ext uri="{FF2B5EF4-FFF2-40B4-BE49-F238E27FC236}">
                <a16:creationId xmlns:a16="http://schemas.microsoft.com/office/drawing/2014/main" id="{DD7930C9-47B3-4B15-A3E6-0E1E444F8598}"/>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195397883d944ea"/>
          <a:stretch xmlns:a="http://schemas.openxmlformats.org/drawingml/2006/main"/>
        </p:blipFill>
        <p:spPr>
          <a:xfrm xmlns:a="http://schemas.openxmlformats.org/drawingml/2006/main">
            <a:off x="611194" y="1838325"/>
            <a:ext cx="7521562" cy="3209925"/>
          </a:xfrm>
          <a:prstGeom xmlns:a="http://schemas.openxmlformats.org/drawingml/2006/main" prst="rect">
            <a:avLst/>
          </a:prstGeom>
        </p:spPr>
      </p:pic>
      <p:sp>
        <p:nvSpPr>
          <p:cNvPr id="4" name="최대 3곳">
            <a:extLst xmlns:a="http://schemas.openxmlformats.org/drawingml/2006/main">
              <a:ext uri="{FF2B5EF4-FFF2-40B4-BE49-F238E27FC236}">
                <a16:creationId xmlns:a16="http://schemas.microsoft.com/office/drawing/2014/main" id="{C20E0B85-FBA9-47E1-A46E-D2A97B6D4803}"/>
              </a:ext>
            </a:extLst>
          </p:cNvPr>
          <p:cNvSpPr>
            <a:spLocks xmlns:a="http://schemas.openxmlformats.org/drawingml/2006/main" noGrp="1"/>
          </p:cNvSpPr>
          <p:nvPr/>
        </p:nvSpPr>
        <p:spPr>
          <a:xfrm xmlns:a="http://schemas.openxmlformats.org/drawingml/2006/main">
            <a:off x="8553450" y="1790700"/>
            <a:ext cx="3028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C32"/>
                </a:solidFill>
                <a:latin typeface="Malgun Gothic"/>
                <a:ea typeface="Malgun Gothic"/>
                <a:cs typeface="Malgun Gothic"/>
              </a:defRPr>
            </a:pPr>
            <a:r>
              <a:rPr sz="2625" b="1">
                <a:solidFill>
                  <a:srgbClr val="173C32"/>
                </a:solidFill>
                <a:latin typeface="Malgun Gothic"/>
                <a:ea typeface="Malgun Gothic"/>
                <a:cs typeface="Malgun Gothic"/>
              </a:rPr>
              <a:t>최대 3곳</a:t>
            </a:r>
          </a:p>
        </p:txBody>
      </p:sp>
      <p:sp>
        <p:nvSpPr>
          <p:cNvPr id="5" name="식당과 메뉴를 함께 추천">
            <a:extLst xmlns:a="http://schemas.openxmlformats.org/drawingml/2006/main">
              <a:ext uri="{FF2B5EF4-FFF2-40B4-BE49-F238E27FC236}">
                <a16:creationId xmlns:a16="http://schemas.microsoft.com/office/drawing/2014/main" id="{CBF1ACCB-5B3B-4CE6-AD45-3222E782D654}"/>
              </a:ext>
            </a:extLst>
          </p:cNvPr>
          <p:cNvSpPr>
            <a:spLocks xmlns:a="http://schemas.openxmlformats.org/drawingml/2006/main" noGrp="1"/>
          </p:cNvSpPr>
          <p:nvPr/>
        </p:nvSpPr>
        <p:spPr>
          <a:xfrm xmlns:a="http://schemas.openxmlformats.org/drawingml/2006/main">
            <a:off x="8572500" y="2390775"/>
            <a:ext cx="290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56A"/>
                </a:solidFill>
                <a:latin typeface="Malgun Gothic"/>
                <a:ea typeface="Malgun Gothic"/>
                <a:cs typeface="Malgun Gothic"/>
              </a:defRPr>
            </a:pPr>
            <a:r>
              <a:rPr sz="1800" b="0">
                <a:solidFill>
                  <a:srgbClr val="64756A"/>
                </a:solidFill>
                <a:latin typeface="Malgun Gothic"/>
                <a:ea typeface="Malgun Gothic"/>
                <a:cs typeface="Malgun Gothic"/>
              </a:rPr>
              <a:t>식당과 메뉴를 함께 추천</a:t>
            </a:r>
          </a:p>
        </p:txBody>
      </p:sp>
      <p:sp>
        <p:nvSpPr>
          <p:cNvPr id="6" name="복수 선택 투표">
            <a:extLst xmlns:a="http://schemas.openxmlformats.org/drawingml/2006/main">
              <a:ext uri="{FF2B5EF4-FFF2-40B4-BE49-F238E27FC236}">
                <a16:creationId xmlns:a16="http://schemas.microsoft.com/office/drawing/2014/main" id="{EBDDFFA4-D335-4677-874E-FB1030BDD9D4}"/>
              </a:ext>
            </a:extLst>
          </p:cNvPr>
          <p:cNvSpPr>
            <a:spLocks xmlns:a="http://schemas.openxmlformats.org/drawingml/2006/main" noGrp="1"/>
          </p:cNvSpPr>
          <p:nvPr/>
        </p:nvSpPr>
        <p:spPr>
          <a:xfrm xmlns:a="http://schemas.openxmlformats.org/drawingml/2006/main">
            <a:off x="8553450" y="3343275"/>
            <a:ext cx="3028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C32"/>
                </a:solidFill>
                <a:latin typeface="Malgun Gothic"/>
                <a:ea typeface="Malgun Gothic"/>
                <a:cs typeface="Malgun Gothic"/>
              </a:defRPr>
            </a:pPr>
            <a:r>
              <a:rPr sz="2400" b="1">
                <a:solidFill>
                  <a:srgbClr val="173C32"/>
                </a:solidFill>
                <a:latin typeface="Malgun Gothic"/>
                <a:ea typeface="Malgun Gothic"/>
                <a:cs typeface="Malgun Gothic"/>
              </a:rPr>
              <a:t>복수 선택 투표</a:t>
            </a:r>
          </a:p>
        </p:txBody>
      </p:sp>
      <p:sp>
        <p:nvSpPr>
          <p:cNvPr id="7" name="여러 후보에 동시 투표">
            <a:extLst xmlns:a="http://schemas.openxmlformats.org/drawingml/2006/main">
              <a:ext uri="{FF2B5EF4-FFF2-40B4-BE49-F238E27FC236}">
                <a16:creationId xmlns:a16="http://schemas.microsoft.com/office/drawing/2014/main" id="{CF174186-EEC2-4842-808E-5BB0D8EF8121}"/>
              </a:ext>
            </a:extLst>
          </p:cNvPr>
          <p:cNvSpPr>
            <a:spLocks xmlns:a="http://schemas.openxmlformats.org/drawingml/2006/main" noGrp="1"/>
          </p:cNvSpPr>
          <p:nvPr/>
        </p:nvSpPr>
        <p:spPr>
          <a:xfrm xmlns:a="http://schemas.openxmlformats.org/drawingml/2006/main">
            <a:off x="8572500" y="3943350"/>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56A"/>
                </a:solidFill>
                <a:latin typeface="Malgun Gothic"/>
                <a:ea typeface="Malgun Gothic"/>
                <a:cs typeface="Malgun Gothic"/>
              </a:defRPr>
            </a:pPr>
            <a:r>
              <a:rPr sz="1800" b="0">
                <a:solidFill>
                  <a:srgbClr val="64756A"/>
                </a:solidFill>
                <a:latin typeface="Malgun Gothic"/>
                <a:ea typeface="Malgun Gothic"/>
                <a:cs typeface="Malgun Gothic"/>
              </a:rPr>
              <a:t>여러 후보에 동시 투표</a:t>
            </a:r>
          </a:p>
        </p:txBody>
      </p:sp>
      <p:sp>
        <p:nvSpPr>
          <p:cNvPr id="8" name="조건에 맞는 후보가 없으면 직접 조정하도록 안내합니다">
            <a:extLst xmlns:a="http://schemas.openxmlformats.org/drawingml/2006/main">
              <a:ext uri="{FF2B5EF4-FFF2-40B4-BE49-F238E27FC236}">
                <a16:creationId xmlns:a16="http://schemas.microsoft.com/office/drawing/2014/main" id="{2CE5950E-117D-48C5-919F-F9CCF58C276E}"/>
              </a:ext>
            </a:extLst>
          </p:cNvPr>
          <p:cNvSpPr>
            <a:spLocks xmlns:a="http://schemas.openxmlformats.org/drawingml/2006/main" noGrp="1"/>
          </p:cNvSpPr>
          <p:nvPr/>
        </p:nvSpPr>
        <p:spPr>
          <a:xfrm xmlns:a="http://schemas.openxmlformats.org/drawingml/2006/main">
            <a:off x="628650" y="56769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C32"/>
                </a:solidFill>
                <a:latin typeface="Malgun Gothic"/>
                <a:ea typeface="Malgun Gothic"/>
                <a:cs typeface="Malgun Gothic"/>
              </a:defRPr>
            </a:pPr>
            <a:r>
              <a:rPr sz="2100" b="1">
                <a:solidFill>
                  <a:srgbClr val="173C32"/>
                </a:solidFill>
                <a:latin typeface="Malgun Gothic"/>
                <a:ea typeface="Malgun Gothic"/>
                <a:cs typeface="Malgun Gothic"/>
              </a:rPr>
              <a:t>조건에 맞는 후보가 없으면 직접 조정하도록 안내합니다</a:t>
            </a:r>
          </a:p>
        </p:txBody>
      </p:sp>
      <p:sp>
        <p:nvSpPr>
          <p:cNvPr id="9" name="화면의 가게·가격·시간은 시연용 데이터입니다">
            <a:extLst xmlns:a="http://schemas.openxmlformats.org/drawingml/2006/main">
              <a:ext uri="{FF2B5EF4-FFF2-40B4-BE49-F238E27FC236}">
                <a16:creationId xmlns:a16="http://schemas.microsoft.com/office/drawing/2014/main" id="{C8412BB1-5CBD-47D5-9F21-FBCB1C9502A9}"/>
              </a:ext>
            </a:extLst>
          </p:cNvPr>
          <p:cNvSpPr>
            <a:spLocks xmlns:a="http://schemas.openxmlformats.org/drawingml/2006/main" noGrp="1"/>
          </p:cNvSpPr>
          <p:nvPr/>
        </p:nvSpPr>
        <p:spPr>
          <a:xfrm xmlns:a="http://schemas.openxmlformats.org/drawingml/2006/main">
            <a:off x="638175" y="6210300"/>
            <a:ext cx="1081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56A"/>
                </a:solidFill>
                <a:latin typeface="Malgun Gothic"/>
                <a:ea typeface="Malgun Gothic"/>
                <a:cs typeface="Malgun Gothic"/>
              </a:defRPr>
            </a:pPr>
            <a:r>
              <a:rPr sz="1350" b="0">
                <a:solidFill>
                  <a:srgbClr val="64756A"/>
                </a:solidFill>
                <a:latin typeface="Malgun Gothic"/>
                <a:ea typeface="Malgun Gothic"/>
                <a:cs typeface="Malgun Gothic"/>
              </a:rPr>
              <a:t>화면의 가게·가격·시간은 시연용 데이터입니다</a:t>
            </a:r>
          </a:p>
        </p:txBody>
      </p:sp>
    </p:spTree>
    <p:extLst>
      <p:ext uri="{BB962C8B-B14F-4D97-AF65-F5344CB8AC3E}">
        <p14:creationId xmlns:p14="http://schemas.microsoft.com/office/powerpoint/2010/main" val="1906701497"/>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가격 수정이 다음 추천을 바꿉니다">
            <a:extLst xmlns:a="http://schemas.openxmlformats.org/drawingml/2006/main">
              <a:ext uri="{FF2B5EF4-FFF2-40B4-BE49-F238E27FC236}">
                <a16:creationId xmlns:a16="http://schemas.microsoft.com/office/drawing/2014/main" id="{60B260C1-AE41-4A63-9879-54575A1C8D55}"/>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가격 수정이 다음 추천을 바꿉니다</a:t>
            </a:r>
          </a:p>
        </p:txBody>
      </p:sp>
      <p:sp>
        <p:nvSpPr>
          <p:cNvPr id="2" name="05">
            <a:extLst xmlns:a="http://schemas.openxmlformats.org/drawingml/2006/main">
              <a:ext uri="{FF2B5EF4-FFF2-40B4-BE49-F238E27FC236}">
                <a16:creationId xmlns:a16="http://schemas.microsoft.com/office/drawing/2014/main" id="{4A7C9DBD-C58B-4F45-9C14-C936797F1F21}"/>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190d1dd3e264cdc"/>
          <a:stretch xmlns:a="http://schemas.openxmlformats.org/drawingml/2006/main"/>
        </p:blipFill>
        <p:spPr>
          <a:xfrm xmlns:a="http://schemas.openxmlformats.org/drawingml/2006/main">
            <a:off x="609600" y="1790984"/>
            <a:ext cx="7315200" cy="4199957"/>
          </a:xfrm>
          <a:prstGeom xmlns:a="http://schemas.openxmlformats.org/drawingml/2006/main" prst="rect">
            <a:avLst/>
          </a:prstGeom>
        </p:spPr>
      </p:pic>
      <p:sp>
        <p:nvSpPr>
          <p:cNvPr id="4" name="7,000원">
            <a:extLst xmlns:a="http://schemas.openxmlformats.org/drawingml/2006/main">
              <a:ext uri="{FF2B5EF4-FFF2-40B4-BE49-F238E27FC236}">
                <a16:creationId xmlns:a16="http://schemas.microsoft.com/office/drawing/2014/main" id="{6980E84E-2209-4662-B445-D8229D743F7C}"/>
              </a:ext>
            </a:extLst>
          </p:cNvPr>
          <p:cNvSpPr>
            <a:spLocks xmlns:a="http://schemas.openxmlformats.org/drawingml/2006/main" noGrp="1"/>
          </p:cNvSpPr>
          <p:nvPr/>
        </p:nvSpPr>
        <p:spPr>
          <a:xfrm xmlns:a="http://schemas.openxmlformats.org/drawingml/2006/main">
            <a:off x="8429625" y="180022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64756A"/>
                </a:solidFill>
                <a:latin typeface="Malgun Gothic"/>
                <a:ea typeface="Malgun Gothic"/>
                <a:cs typeface="Malgun Gothic"/>
              </a:defRPr>
            </a:pPr>
            <a:r>
              <a:rPr sz="3300" b="1">
                <a:solidFill>
                  <a:srgbClr val="64756A"/>
                </a:solidFill>
                <a:latin typeface="Malgun Gothic"/>
                <a:ea typeface="Malgun Gothic"/>
                <a:cs typeface="Malgun Gothic"/>
              </a:rPr>
              <a:t>7,000원</a:t>
            </a:r>
          </a:p>
        </p:txBody>
      </p:sp>
      <p:sp>
        <p:nvSpPr>
          <p:cNvPr id="5" name="수정 후 12,000원">
            <a:extLst xmlns:a="http://schemas.openxmlformats.org/drawingml/2006/main">
              <a:ext uri="{FF2B5EF4-FFF2-40B4-BE49-F238E27FC236}">
                <a16:creationId xmlns:a16="http://schemas.microsoft.com/office/drawing/2014/main" id="{B7D86C2A-3036-43D5-8851-A26CD6D5176B}"/>
              </a:ext>
            </a:extLst>
          </p:cNvPr>
          <p:cNvSpPr>
            <a:spLocks xmlns:a="http://schemas.openxmlformats.org/drawingml/2006/main" noGrp="1"/>
          </p:cNvSpPr>
          <p:nvPr/>
        </p:nvSpPr>
        <p:spPr>
          <a:xfrm xmlns:a="http://schemas.openxmlformats.org/drawingml/2006/main">
            <a:off x="8429625" y="26193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CF613B"/>
                </a:solidFill>
                <a:latin typeface="Malgun Gothic"/>
                <a:ea typeface="Malgun Gothic"/>
                <a:cs typeface="Malgun Gothic"/>
              </a:defRPr>
            </a:pPr>
            <a:r>
              <a:rPr sz="2700" b="1">
                <a:solidFill>
                  <a:srgbClr val="CF613B"/>
                </a:solidFill>
                <a:latin typeface="Malgun Gothic"/>
                <a:ea typeface="Malgun Gothic"/>
                <a:cs typeface="Malgun Gothic"/>
              </a:rPr>
              <a:t>수정 후 12,000원</a:t>
            </a:r>
          </a:p>
        </p:txBody>
      </p:sp>
      <p:sp>
        <p:nvSpPr>
          <p:cNvPr id="6" name="만원 이하 조건의&#10;다음 추천에서 제외">
            <a:extLst xmlns:a="http://schemas.openxmlformats.org/drawingml/2006/main">
              <a:ext uri="{FF2B5EF4-FFF2-40B4-BE49-F238E27FC236}">
                <a16:creationId xmlns:a16="http://schemas.microsoft.com/office/drawing/2014/main" id="{14F3964A-76B1-403C-B0B1-D527245A3ECA}"/>
              </a:ext>
            </a:extLst>
          </p:cNvPr>
          <p:cNvSpPr>
            <a:spLocks xmlns:a="http://schemas.openxmlformats.org/drawingml/2006/main" noGrp="1"/>
          </p:cNvSpPr>
          <p:nvPr/>
        </p:nvSpPr>
        <p:spPr>
          <a:xfrm xmlns:a="http://schemas.openxmlformats.org/drawingml/2006/main">
            <a:off x="8429625" y="4152900"/>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2"/>
                </a:solidFill>
                <a:latin typeface="Malgun Gothic"/>
                <a:ea typeface="Malgun Gothic"/>
                <a:cs typeface="Malgun Gothic"/>
              </a:defRPr>
            </a:pPr>
            <a:r>
              <a:rPr sz="2250" b="1">
                <a:solidFill>
                  <a:srgbClr val="173C32"/>
                </a:solidFill>
                <a:latin typeface="Malgun Gothic"/>
                <a:ea typeface="Malgun Gothic"/>
                <a:cs typeface="Malgun Gothic"/>
              </a:rPr>
              <a:t>만원 이하 조건의</a:t>
            </a:r>
          </a:p>
          <a:p xmlns:a="http://schemas.openxmlformats.org/drawingml/2006/main">
            <a:pPr>
              <a:defRPr sz="2250" b="1">
                <a:solidFill>
                  <a:srgbClr val="173C32"/>
                </a:solidFill>
                <a:latin typeface="Malgun Gothic"/>
                <a:ea typeface="Malgun Gothic"/>
                <a:cs typeface="Malgun Gothic"/>
              </a:defRPr>
            </a:pPr>
            <a:r>
              <a:rPr sz="2250" b="1">
                <a:solidFill>
                  <a:srgbClr val="173C32"/>
                </a:solidFill>
                <a:latin typeface="Malgun Gothic"/>
                <a:ea typeface="Malgun Gothic"/>
                <a:cs typeface="Malgun Gothic"/>
              </a:rPr>
              <a:t>다음 추천에서 제외</a:t>
            </a:r>
          </a:p>
        </p:txBody>
      </p:sp>
      <p:sp>
        <p:nvSpPr>
          <p:cNvPr id="7" name="시연: 메뉴판 확인과 가격 수정">
            <a:extLst xmlns:a="http://schemas.openxmlformats.org/drawingml/2006/main">
              <a:ext uri="{FF2B5EF4-FFF2-40B4-BE49-F238E27FC236}">
                <a16:creationId xmlns:a16="http://schemas.microsoft.com/office/drawing/2014/main" id="{934DB2CE-F24D-453D-B9AF-F2E75C52EFAE}"/>
              </a:ext>
            </a:extLst>
          </p:cNvPr>
          <p:cNvSpPr>
            <a:spLocks xmlns:a="http://schemas.openxmlformats.org/drawingml/2006/main" noGrp="1"/>
          </p:cNvSpPr>
          <p:nvPr/>
        </p:nvSpPr>
        <p:spPr>
          <a:xfrm xmlns:a="http://schemas.openxmlformats.org/drawingml/2006/main">
            <a:off x="628650" y="6181725"/>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56A"/>
                </a:solidFill>
                <a:latin typeface="Malgun Gothic"/>
                <a:ea typeface="Malgun Gothic"/>
                <a:cs typeface="Malgun Gothic"/>
              </a:defRPr>
            </a:pPr>
            <a:r>
              <a:rPr sz="1500" b="0">
                <a:solidFill>
                  <a:srgbClr val="64756A"/>
                </a:solidFill>
                <a:latin typeface="Malgun Gothic"/>
                <a:ea typeface="Malgun Gothic"/>
                <a:cs typeface="Malgun Gothic"/>
              </a:rPr>
              <a:t>시연: 메뉴판 확인과 가격 수정</a:t>
            </a:r>
          </a:p>
        </p:txBody>
      </p:sp>
    </p:spTree>
    <p:extLst>
      <p:ext uri="{BB962C8B-B14F-4D97-AF65-F5344CB8AC3E}">
        <p14:creationId xmlns:p14="http://schemas.microsoft.com/office/powerpoint/2010/main" val="1394826287"/>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사용자가 채우는 가게 정보">
            <a:extLst xmlns:a="http://schemas.openxmlformats.org/drawingml/2006/main">
              <a:ext uri="{FF2B5EF4-FFF2-40B4-BE49-F238E27FC236}">
                <a16:creationId xmlns:a16="http://schemas.microsoft.com/office/drawing/2014/main" id="{A05DA84D-9EFC-4098-A038-42EC4B088133}"/>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사용자가 채우는 가게 정보</a:t>
            </a:r>
          </a:p>
        </p:txBody>
      </p:sp>
      <p:sp>
        <p:nvSpPr>
          <p:cNvPr id="2" name="06">
            <a:extLst xmlns:a="http://schemas.openxmlformats.org/drawingml/2006/main">
              <a:ext uri="{FF2B5EF4-FFF2-40B4-BE49-F238E27FC236}">
                <a16:creationId xmlns:a16="http://schemas.microsoft.com/office/drawing/2014/main" id="{72CD5411-DAB1-40C8-8B4C-37EF8895D5E2}"/>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06</a:t>
            </a:r>
          </a:p>
        </p:txBody>
      </p:sp>
      <p:sp>
        <p:nvSpPr>
          <p:cNvPr id="3" name="작은 기여">
            <a:extLst xmlns:a="http://schemas.openxmlformats.org/drawingml/2006/main">
              <a:ext uri="{FF2B5EF4-FFF2-40B4-BE49-F238E27FC236}">
                <a16:creationId xmlns:a16="http://schemas.microsoft.com/office/drawing/2014/main" id="{D5B41393-697D-49DD-9362-50149EBDF4BD}"/>
              </a:ext>
            </a:extLst>
          </p:cNvPr>
          <p:cNvSpPr>
            <a:spLocks xmlns:a="http://schemas.openxmlformats.org/drawingml/2006/main" noGrp="1"/>
          </p:cNvSpPr>
          <p:nvPr/>
        </p:nvSpPr>
        <p:spPr>
          <a:xfrm xmlns:a="http://schemas.openxmlformats.org/drawingml/2006/main">
            <a:off x="609600" y="17716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C32"/>
                </a:solidFill>
                <a:latin typeface="Malgun Gothic"/>
                <a:ea typeface="Malgun Gothic"/>
                <a:cs typeface="Malgun Gothic"/>
              </a:defRPr>
            </a:pPr>
            <a:r>
              <a:rPr sz="2400" b="1">
                <a:solidFill>
                  <a:srgbClr val="173C32"/>
                </a:solidFill>
                <a:latin typeface="Malgun Gothic"/>
                <a:ea typeface="Malgun Gothic"/>
                <a:cs typeface="Malgun Gothic"/>
              </a:rPr>
              <a:t>작은 기여</a:t>
            </a:r>
          </a:p>
        </p:txBody>
      </p:sp>
      <p:sp>
        <p:nvSpPr>
          <p:cNvPr id="4" name="메뉴 가격 확인과 수정&#10;간판 사진과 위치로 등록 제안">
            <a:extLst xmlns:a="http://schemas.openxmlformats.org/drawingml/2006/main">
              <a:ext uri="{FF2B5EF4-FFF2-40B4-BE49-F238E27FC236}">
                <a16:creationId xmlns:a16="http://schemas.microsoft.com/office/drawing/2014/main" id="{CD8B6542-3FED-45FB-AAEC-3A8CF18A7063}"/>
              </a:ext>
            </a:extLst>
          </p:cNvPr>
          <p:cNvSpPr>
            <a:spLocks xmlns:a="http://schemas.openxmlformats.org/drawingml/2006/main" noGrp="1"/>
          </p:cNvSpPr>
          <p:nvPr/>
        </p:nvSpPr>
        <p:spPr>
          <a:xfrm xmlns:a="http://schemas.openxmlformats.org/drawingml/2006/main">
            <a:off x="609600" y="2419350"/>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4756A"/>
                </a:solidFill>
                <a:latin typeface="Malgun Gothic"/>
                <a:ea typeface="Malgun Gothic"/>
                <a:cs typeface="Malgun Gothic"/>
              </a:defRPr>
            </a:pPr>
            <a:r>
              <a:rPr sz="1950" b="0">
                <a:solidFill>
                  <a:srgbClr val="64756A"/>
                </a:solidFill>
                <a:latin typeface="Malgun Gothic"/>
                <a:ea typeface="Malgun Gothic"/>
                <a:cs typeface="Malgun Gothic"/>
              </a:rPr>
              <a:t>메뉴 가격 확인과 수정</a:t>
            </a:r>
          </a:p>
          <a:p xmlns:a="http://schemas.openxmlformats.org/drawingml/2006/main">
            <a:pPr>
              <a:defRPr sz="1950" b="0">
                <a:solidFill>
                  <a:srgbClr val="64756A"/>
                </a:solidFill>
                <a:latin typeface="Malgun Gothic"/>
                <a:ea typeface="Malgun Gothic"/>
                <a:cs typeface="Malgun Gothic"/>
              </a:defRPr>
            </a:pPr>
            <a:r>
              <a:rPr sz="1950" b="0">
                <a:solidFill>
                  <a:srgbClr val="64756A"/>
                </a:solidFill>
                <a:latin typeface="Malgun Gothic"/>
                <a:ea typeface="Malgun Gothic"/>
                <a:cs typeface="Malgun Gothic"/>
              </a:rPr>
              <a:t>간판 사진과 위치로 등록 제안</a:t>
            </a:r>
          </a:p>
        </p:txBody>
      </p:sp>
      <p:sp>
        <p:nvSpPr>
          <p:cNvPr id="5" name="기여가 돌아오는 방식">
            <a:extLst xmlns:a="http://schemas.openxmlformats.org/drawingml/2006/main">
              <a:ext uri="{FF2B5EF4-FFF2-40B4-BE49-F238E27FC236}">
                <a16:creationId xmlns:a16="http://schemas.microsoft.com/office/drawing/2014/main" id="{85C13B61-FFB5-449C-8FD0-53F623FC6C30}"/>
              </a:ext>
            </a:extLst>
          </p:cNvPr>
          <p:cNvSpPr>
            <a:spLocks xmlns:a="http://schemas.openxmlformats.org/drawingml/2006/main" noGrp="1"/>
          </p:cNvSpPr>
          <p:nvPr/>
        </p:nvSpPr>
        <p:spPr>
          <a:xfrm xmlns:a="http://schemas.openxmlformats.org/drawingml/2006/main">
            <a:off x="609600" y="3876675"/>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C32"/>
                </a:solidFill>
                <a:latin typeface="Malgun Gothic"/>
                <a:ea typeface="Malgun Gothic"/>
                <a:cs typeface="Malgun Gothic"/>
              </a:defRPr>
            </a:pPr>
            <a:r>
              <a:rPr sz="2400" b="1">
                <a:solidFill>
                  <a:srgbClr val="173C32"/>
                </a:solidFill>
                <a:latin typeface="Malgun Gothic"/>
                <a:ea typeface="Malgun Gothic"/>
                <a:cs typeface="Malgun Gothic"/>
              </a:rPr>
              <a:t>기여가 돌아오는 방식</a:t>
            </a:r>
          </a:p>
        </p:txBody>
      </p:sp>
      <p:sp>
        <p:nvSpPr>
          <p:cNvPr id="6" name="다음 모임의 추천에 반영&#10;내 기록과 배지로 참여 경험 축적">
            <a:extLst xmlns:a="http://schemas.openxmlformats.org/drawingml/2006/main">
              <a:ext uri="{FF2B5EF4-FFF2-40B4-BE49-F238E27FC236}">
                <a16:creationId xmlns:a16="http://schemas.microsoft.com/office/drawing/2014/main" id="{6F3B6F77-7A9B-4736-9097-68107C85A291}"/>
              </a:ext>
            </a:extLst>
          </p:cNvPr>
          <p:cNvSpPr>
            <a:spLocks xmlns:a="http://schemas.openxmlformats.org/drawingml/2006/main" noGrp="1"/>
          </p:cNvSpPr>
          <p:nvPr/>
        </p:nvSpPr>
        <p:spPr>
          <a:xfrm xmlns:a="http://schemas.openxmlformats.org/drawingml/2006/main">
            <a:off x="609600" y="4543425"/>
            <a:ext cx="5286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4756A"/>
                </a:solidFill>
                <a:latin typeface="Malgun Gothic"/>
                <a:ea typeface="Malgun Gothic"/>
                <a:cs typeface="Malgun Gothic"/>
              </a:defRPr>
            </a:pPr>
            <a:r>
              <a:rPr sz="1950" b="0">
                <a:solidFill>
                  <a:srgbClr val="64756A"/>
                </a:solidFill>
                <a:latin typeface="Malgun Gothic"/>
                <a:ea typeface="Malgun Gothic"/>
                <a:cs typeface="Malgun Gothic"/>
              </a:rPr>
              <a:t>다음 모임의 추천에 반영</a:t>
            </a:r>
          </a:p>
          <a:p xmlns:a="http://schemas.openxmlformats.org/drawingml/2006/main">
            <a:pPr>
              <a:defRPr sz="1950" b="0">
                <a:solidFill>
                  <a:srgbClr val="64756A"/>
                </a:solidFill>
                <a:latin typeface="Malgun Gothic"/>
                <a:ea typeface="Malgun Gothic"/>
                <a:cs typeface="Malgun Gothic"/>
              </a:defRPr>
            </a:pPr>
            <a:r>
              <a:rPr sz="1950" b="0">
                <a:solidFill>
                  <a:srgbClr val="64756A"/>
                </a:solidFill>
                <a:latin typeface="Malgun Gothic"/>
                <a:ea typeface="Malgun Gothic"/>
                <a:cs typeface="Malgun Gothic"/>
              </a:rPr>
              <a:t>내 기록과 배지로 참여 경험 축적</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509bd48a6e45c4"/>
          <a:stretch xmlns:a="http://schemas.openxmlformats.org/drawingml/2006/main"/>
        </p:blipFill>
        <p:spPr>
          <a:xfrm xmlns:a="http://schemas.openxmlformats.org/drawingml/2006/main">
            <a:off x="6200775" y="1976188"/>
            <a:ext cx="5381625" cy="3162800"/>
          </a:xfrm>
          <a:prstGeom xmlns:a="http://schemas.openxmlformats.org/drawingml/2006/main" prst="rect">
            <a:avLst/>
          </a:prstGeom>
        </p:spPr>
      </p:pic>
      <p:sp>
        <p:nvSpPr>
          <p:cNvPr id="8" name="정보의 신뢰는 확인 날짜와 수정 이력으로 관리할 계획입니다">
            <a:extLst xmlns:a="http://schemas.openxmlformats.org/drawingml/2006/main">
              <a:ext uri="{FF2B5EF4-FFF2-40B4-BE49-F238E27FC236}">
                <a16:creationId xmlns:a16="http://schemas.microsoft.com/office/drawing/2014/main" id="{0CABF049-CDA5-4A3F-94FD-476153BCC751}"/>
              </a:ext>
            </a:extLst>
          </p:cNvPr>
          <p:cNvSpPr>
            <a:spLocks xmlns:a="http://schemas.openxmlformats.org/drawingml/2006/main" noGrp="1"/>
          </p:cNvSpPr>
          <p:nvPr/>
        </p:nvSpPr>
        <p:spPr>
          <a:xfrm xmlns:a="http://schemas.openxmlformats.org/drawingml/2006/main">
            <a:off x="619125" y="61150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56A"/>
                </a:solidFill>
                <a:latin typeface="Malgun Gothic"/>
                <a:ea typeface="Malgun Gothic"/>
                <a:cs typeface="Malgun Gothic"/>
              </a:defRPr>
            </a:pPr>
            <a:r>
              <a:rPr sz="1575" b="0">
                <a:solidFill>
                  <a:srgbClr val="64756A"/>
                </a:solidFill>
                <a:latin typeface="Malgun Gothic"/>
                <a:ea typeface="Malgun Gothic"/>
                <a:cs typeface="Malgun Gothic"/>
              </a:rPr>
              <a:t>정보의 신뢰는 확인 날짜와 수정 이력으로 관리할 계획입니다</a:t>
            </a:r>
          </a:p>
        </p:txBody>
      </p:sp>
    </p:spTree>
    <p:extLst>
      <p:ext uri="{BB962C8B-B14F-4D97-AF65-F5344CB8AC3E}">
        <p14:creationId xmlns:p14="http://schemas.microsoft.com/office/powerpoint/2010/main" val="1350639843"/>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 name="현재 구현 범위와 실제 연동 계획">
            <a:extLst xmlns:a="http://schemas.openxmlformats.org/drawingml/2006/main">
              <a:ext uri="{FF2B5EF4-FFF2-40B4-BE49-F238E27FC236}">
                <a16:creationId xmlns:a16="http://schemas.microsoft.com/office/drawing/2014/main" id="{4AC1516F-0774-46AA-B13D-3514EC012B7B}"/>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현재 구현 범위와 실제 연동 계획</a:t>
            </a:r>
          </a:p>
        </p:txBody>
      </p:sp>
      <p:sp>
        <p:nvSpPr>
          <p:cNvPr id="2" name="07">
            <a:extLst xmlns:a="http://schemas.openxmlformats.org/drawingml/2006/main">
              <a:ext uri="{FF2B5EF4-FFF2-40B4-BE49-F238E27FC236}">
                <a16:creationId xmlns:a16="http://schemas.microsoft.com/office/drawing/2014/main" id="{BF4B4F92-FB43-4D22-995A-67CC387C5208}"/>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07</a:t>
            </a:r>
          </a:p>
        </p:txBody>
      </p:sp>
      <p:graphicFrame>
        <p:nvGraphicFramePr>
          <p:cNvPr id="8" name=""/>
          <p:cNvGraphicFramePr/>
          <p:nvPr/>
        </p:nvGraphicFramePr>
        <p:xfrm>
          <a:off xmlns:a="http://schemas.openxmlformats.org/drawingml/2006/main" x="609600" y="1666875"/>
          <a:ext xmlns:a="http://schemas.openxmlformats.org/drawingml/2006/main" cx="10972800" cy="3419475"/>
        </p:xfrm>
        <a:graphic xmlns:a="http://schemas.openxmlformats.org/drawingml/2006/main">
          <a:graphicData uri="http://schemas.openxmlformats.org/drawingml/2006/table">
            <a:tbl>
              <a:tblPr/>
              <a:tblGrid>
                <a:gridCol w="2019300"/>
                <a:gridCol w="3905250"/>
                <a:gridCol w="5048250"/>
              </a:tblGrid>
              <a:tr h="533400">
                <a:tc>
                  <a:txBody>
                    <a:bodyPr/>
                    <a:lstStyle/>
                    <a:p>
                      <a:r>
                        <a:rPr sz="1800" b="1">
                          <a:solidFill>
                            <a:srgbClr val="FFFFFF"/>
                          </a:solidFill>
                          <a:latin typeface="Malgun Gothic"/>
                          <a:ea typeface="Malgun Gothic"/>
                          <a:cs typeface="Malgun Gothic"/>
                        </a:rPr>
                        <a:t>영역</a:t>
                      </a:r>
                    </a:p>
                  </a:txBody>
                  <a:tcPr marL="171450" marR="171450" marT="114300" marB="114300" anchor="ctr">
                    <a:solidFill>
                      <a:srgbClr val="173C32"/>
                    </a:solidFill>
                  </a:tcPr>
                </a:tc>
                <a:tc>
                  <a:txBody>
                    <a:bodyPr/>
                    <a:lstStyle/>
                    <a:p>
                      <a:r>
                        <a:rPr sz="1800" b="1">
                          <a:solidFill>
                            <a:srgbClr val="FFFFFF"/>
                          </a:solidFill>
                          <a:latin typeface="Malgun Gothic"/>
                          <a:ea typeface="Malgun Gothic"/>
                          <a:cs typeface="Malgun Gothic"/>
                        </a:rPr>
                        <a:t>현재 데모</a:t>
                      </a:r>
                    </a:p>
                  </a:txBody>
                  <a:tcPr marL="171450" marR="171450" marT="114300" marB="114300" anchor="ctr">
                    <a:solidFill>
                      <a:srgbClr val="173C32"/>
                    </a:solidFill>
                  </a:tcPr>
                </a:tc>
                <a:tc>
                  <a:txBody>
                    <a:bodyPr/>
                    <a:lstStyle/>
                    <a:p>
                      <a:r>
                        <a:rPr sz="1800" b="1">
                          <a:solidFill>
                            <a:srgbClr val="FFFFFF"/>
                          </a:solidFill>
                          <a:latin typeface="Malgun Gothic"/>
                          <a:ea typeface="Malgun Gothic"/>
                          <a:cs typeface="Malgun Gothic"/>
                        </a:rPr>
                        <a:t>본선 연동 계획</a:t>
                      </a:r>
                    </a:p>
                  </a:txBody>
                  <a:tcPr marL="171450" marR="171450" marT="114300" marB="114300" anchor="ctr">
                    <a:solidFill>
                      <a:srgbClr val="173C32"/>
                    </a:solidFill>
                  </a:tcPr>
                </a:tc>
              </a:tr>
              <a:tr h="962025">
                <a:tc>
                  <a:txBody>
                    <a:bodyPr/>
                    <a:lstStyle/>
                    <a:p>
                      <a:r>
                        <a:rPr sz="1800" b="0">
                          <a:solidFill>
                            <a:srgbClr val="173C32"/>
                          </a:solidFill>
                          <a:latin typeface="Malgun Gothic"/>
                          <a:ea typeface="Malgun Gothic"/>
                          <a:cs typeface="Malgun Gothic"/>
                        </a:rPr>
                        <a:t>모임과 투표</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한 브라우저에서 동작</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DB 저장과 여러 기기 동기화</a:t>
                      </a:r>
                    </a:p>
                  </a:txBody>
                  <a:tcPr marL="171450" marR="171450" marT="114300" marB="114300" anchor="ctr">
                    <a:solidFill>
                      <a:srgbClr val="FFFFFF"/>
                    </a:solidFill>
                  </a:tcPr>
                </a:tc>
              </a:tr>
              <a:tr h="962025">
                <a:tc>
                  <a:txBody>
                    <a:bodyPr/>
                    <a:lstStyle/>
                    <a:p>
                      <a:r>
                        <a:rPr sz="1800" b="0">
                          <a:solidFill>
                            <a:srgbClr val="173C32"/>
                          </a:solidFill>
                          <a:latin typeface="Malgun Gothic"/>
                          <a:ea typeface="Malgun Gothic"/>
                          <a:cs typeface="Malgun Gothic"/>
                        </a:rPr>
                        <a:t>추천</a:t>
                      </a:r>
                    </a:p>
                  </a:txBody>
                  <a:tcPr marL="171450" marR="171450" marT="114300" marB="114300" anchor="ctr">
                    <a:solidFill>
                      <a:srgbClr val="EFF3E8"/>
                    </a:solidFill>
                  </a:tcPr>
                </a:tc>
                <a:tc>
                  <a:txBody>
                    <a:bodyPr/>
                    <a:lstStyle/>
                    <a:p>
                      <a:r>
                        <a:rPr sz="1800" b="0">
                          <a:solidFill>
                            <a:srgbClr val="173C32"/>
                          </a:solidFill>
                          <a:latin typeface="Malgun Gothic"/>
                          <a:ea typeface="Malgun Gothic"/>
                          <a:cs typeface="Malgun Gothic"/>
                        </a:rPr>
                        <a:t>시연 데이터로 조건 필터</a:t>
                      </a:r>
                    </a:p>
                  </a:txBody>
                  <a:tcPr marL="171450" marR="171450" marT="114300" marB="114300" anchor="ctr">
                    <a:solidFill>
                      <a:srgbClr val="EFF3E8"/>
                    </a:solidFill>
                  </a:tcPr>
                </a:tc>
                <a:tc>
                  <a:txBody>
                    <a:bodyPr/>
                    <a:lstStyle/>
                    <a:p>
                      <a:r>
                        <a:rPr sz="1800" b="0">
                          <a:solidFill>
                            <a:srgbClr val="173C32"/>
                          </a:solidFill>
                          <a:latin typeface="Malgun Gothic"/>
                          <a:ea typeface="Malgun Gothic"/>
                          <a:cs typeface="Malgun Gothic"/>
                        </a:rPr>
                        <a:t>실제 메뉴와 NVIDIA NIM</a:t>
                      </a:r>
                    </a:p>
                  </a:txBody>
                  <a:tcPr marL="171450" marR="171450" marT="114300" marB="114300" anchor="ctr">
                    <a:solidFill>
                      <a:srgbClr val="EFF3E8"/>
                    </a:solidFill>
                  </a:tcPr>
                </a:tc>
              </a:tr>
              <a:tr h="962025">
                <a:tc>
                  <a:txBody>
                    <a:bodyPr/>
                    <a:lstStyle/>
                    <a:p>
                      <a:r>
                        <a:rPr sz="1800" b="0">
                          <a:solidFill>
                            <a:srgbClr val="173C32"/>
                          </a:solidFill>
                          <a:latin typeface="Malgun Gothic"/>
                          <a:ea typeface="Malgun Gothic"/>
                          <a:cs typeface="Malgun Gothic"/>
                        </a:rPr>
                        <a:t>공유와 사진</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공유 미리보기와 인식 초안</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카카오 공유와 사진 저장·인식</a:t>
                      </a:r>
                    </a:p>
                  </a:txBody>
                  <a:tcPr marL="171450" marR="171450" marT="114300" marB="114300" anchor="ctr">
                    <a:solidFill>
                      <a:srgbClr val="FFFFFF"/>
                    </a:solidFill>
                  </a:tcPr>
                </a:tc>
              </a:tr>
            </a:tbl>
          </a:graphicData>
        </a:graphic>
      </p:graphicFrame>
      <p:sp>
        <p:nvSpPr>
          <p:cNvPr id="4" name="기존 기반  React · Vite · Express">
            <a:extLst xmlns:a="http://schemas.openxmlformats.org/drawingml/2006/main">
              <a:ext uri="{FF2B5EF4-FFF2-40B4-BE49-F238E27FC236}">
                <a16:creationId xmlns:a16="http://schemas.microsoft.com/office/drawing/2014/main" id="{CBB328AF-A123-4C79-994F-6BC7D8BEBCC1}"/>
              </a:ext>
            </a:extLst>
          </p:cNvPr>
          <p:cNvSpPr>
            <a:spLocks xmlns:a="http://schemas.openxmlformats.org/drawingml/2006/main" noGrp="1"/>
          </p:cNvSpPr>
          <p:nvPr/>
        </p:nvSpPr>
        <p:spPr>
          <a:xfrm xmlns:a="http://schemas.openxmlformats.org/drawingml/2006/main">
            <a:off x="619125" y="54483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C32"/>
                </a:solidFill>
                <a:latin typeface="Malgun Gothic"/>
                <a:ea typeface="Malgun Gothic"/>
                <a:cs typeface="Malgun Gothic"/>
              </a:defRPr>
            </a:pPr>
            <a:r>
              <a:rPr sz="1875" b="1">
                <a:solidFill>
                  <a:srgbClr val="173C32"/>
                </a:solidFill>
                <a:latin typeface="Malgun Gothic"/>
                <a:ea typeface="Malgun Gothic"/>
                <a:cs typeface="Malgun Gothic"/>
              </a:rPr>
              <a:t>기존 기반  React · Vite · Express</a:t>
            </a:r>
          </a:p>
        </p:txBody>
      </p:sp>
      <p:sp>
        <p:nvSpPr>
          <p:cNvPr id="5" name="LLM 제공사: NVIDIA NIM   /   DB 제안: Su">
            <a:extLst xmlns:a="http://schemas.openxmlformats.org/drawingml/2006/main">
              <a:ext uri="{FF2B5EF4-FFF2-40B4-BE49-F238E27FC236}">
                <a16:creationId xmlns:a16="http://schemas.microsoft.com/office/drawing/2014/main" id="{4F1B49A8-8299-412C-B121-B717EB3DFA9D}"/>
              </a:ext>
            </a:extLst>
          </p:cNvPr>
          <p:cNvSpPr>
            <a:spLocks xmlns:a="http://schemas.openxmlformats.org/drawingml/2006/main" noGrp="1"/>
          </p:cNvSpPr>
          <p:nvPr/>
        </p:nvSpPr>
        <p:spPr>
          <a:xfrm xmlns:a="http://schemas.openxmlformats.org/drawingml/2006/main">
            <a:off x="619125" y="597217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56A"/>
                </a:solidFill>
                <a:latin typeface="Malgun Gothic"/>
                <a:ea typeface="Malgun Gothic"/>
                <a:cs typeface="Malgun Gothic"/>
              </a:defRPr>
            </a:pPr>
            <a:r>
              <a:rPr sz="1575" b="0">
                <a:solidFill>
                  <a:srgbClr val="64756A"/>
                </a:solidFill>
                <a:latin typeface="Malgun Gothic"/>
                <a:ea typeface="Malgun Gothic"/>
                <a:cs typeface="Malgun Gothic"/>
              </a:rPr>
              <a:t>LLM 제공사: NVIDIA NIM   /   DB 제안: Supabase   /   모델·도보 API: 검토 예정</a:t>
            </a:r>
          </a:p>
        </p:txBody>
      </p:sp>
    </p:spTree>
    <p:extLst>
      <p:ext uri="{BB962C8B-B14F-4D97-AF65-F5344CB8AC3E}">
        <p14:creationId xmlns:p14="http://schemas.microsoft.com/office/powerpoint/2010/main" val="231910172"/>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 name="본선까지의 개발과 검증 계획">
            <a:extLst xmlns:a="http://schemas.openxmlformats.org/drawingml/2006/main">
              <a:ext uri="{FF2B5EF4-FFF2-40B4-BE49-F238E27FC236}">
                <a16:creationId xmlns:a16="http://schemas.microsoft.com/office/drawing/2014/main" id="{A8178B67-34CB-4A4D-A876-821FC2D59176}"/>
              </a:ext>
            </a:extLst>
          </p:cNvPr>
          <p:cNvSpPr>
            <a:spLocks xmlns:a="http://schemas.openxmlformats.org/drawingml/2006/main" noGrp="1"/>
          </p:cNvSpPr>
          <p:nvPr/>
        </p:nvSpPr>
        <p:spPr>
          <a:xfrm xmlns:a="http://schemas.openxmlformats.org/drawingml/2006/main">
            <a:off x="609600" y="4381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2"/>
                </a:solidFill>
                <a:latin typeface="Malgun Gothic"/>
                <a:ea typeface="Malgun Gothic"/>
                <a:cs typeface="Malgun Gothic"/>
              </a:defRPr>
            </a:pPr>
            <a:r>
              <a:rPr sz="3300" b="1">
                <a:solidFill>
                  <a:srgbClr val="173C32"/>
                </a:solidFill>
                <a:latin typeface="Malgun Gothic"/>
                <a:ea typeface="Malgun Gothic"/>
                <a:cs typeface="Malgun Gothic"/>
              </a:rPr>
              <a:t>본선까지의 개발과 검증 계획</a:t>
            </a:r>
          </a:p>
        </p:txBody>
      </p:sp>
      <p:sp>
        <p:nvSpPr>
          <p:cNvPr id="2" name="08">
            <a:extLst xmlns:a="http://schemas.openxmlformats.org/drawingml/2006/main">
              <a:ext uri="{FF2B5EF4-FFF2-40B4-BE49-F238E27FC236}">
                <a16:creationId xmlns:a16="http://schemas.microsoft.com/office/drawing/2014/main" id="{8AE9A5EC-F408-4AEA-9819-8016A967898D}"/>
              </a:ext>
            </a:extLst>
          </p:cNvPr>
          <p:cNvSpPr>
            <a:spLocks xmlns:a="http://schemas.openxmlformats.org/drawingml/2006/main" noGrp="1"/>
          </p:cNvSpPr>
          <p:nvPr/>
        </p:nvSpPr>
        <p:spPr>
          <a:xfrm xmlns:a="http://schemas.openxmlformats.org/drawingml/2006/main">
            <a:off x="1137285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56A"/>
                </a:solidFill>
                <a:latin typeface="Malgun Gothic"/>
                <a:ea typeface="Malgun Gothic"/>
                <a:cs typeface="Malgun Gothic"/>
              </a:defRPr>
            </a:pPr>
            <a:r>
              <a:rPr sz="1125" b="0">
                <a:solidFill>
                  <a:srgbClr val="64756A"/>
                </a:solidFill>
                <a:latin typeface="Malgun Gothic"/>
                <a:ea typeface="Malgun Gothic"/>
                <a:cs typeface="Malgun Gothic"/>
              </a:rPr>
              <a:t>08</a:t>
            </a:r>
          </a:p>
        </p:txBody>
      </p:sp>
      <p:graphicFrame>
        <p:nvGraphicFramePr>
          <p:cNvPr id="7" name=""/>
          <p:cNvGraphicFramePr/>
          <p:nvPr/>
        </p:nvGraphicFramePr>
        <p:xfrm>
          <a:off xmlns:a="http://schemas.openxmlformats.org/drawingml/2006/main" x="609600" y="1609725"/>
          <a:ext xmlns:a="http://schemas.openxmlformats.org/drawingml/2006/main" cx="10972800" cy="3657600"/>
        </p:xfrm>
        <a:graphic xmlns:a="http://schemas.openxmlformats.org/drawingml/2006/main">
          <a:graphicData uri="http://schemas.openxmlformats.org/drawingml/2006/table">
            <a:tbl>
              <a:tblPr/>
              <a:tblGrid>
                <a:gridCol w="2428875"/>
                <a:gridCol w="4667250"/>
                <a:gridCol w="3876675"/>
              </a:tblGrid>
              <a:tr h="533400">
                <a:tc>
                  <a:txBody>
                    <a:bodyPr/>
                    <a:lstStyle/>
                    <a:p>
                      <a:r>
                        <a:rPr sz="1800" b="1">
                          <a:solidFill>
                            <a:srgbClr val="FFFFFF"/>
                          </a:solidFill>
                          <a:latin typeface="Malgun Gothic"/>
                          <a:ea typeface="Malgun Gothic"/>
                          <a:cs typeface="Malgun Gothic"/>
                        </a:rPr>
                        <a:t>시점</a:t>
                      </a:r>
                    </a:p>
                  </a:txBody>
                  <a:tcPr marL="171450" marR="171450" marT="114300" marB="114300" anchor="ctr">
                    <a:solidFill>
                      <a:srgbClr val="173C32"/>
                    </a:solidFill>
                  </a:tcPr>
                </a:tc>
                <a:tc>
                  <a:txBody>
                    <a:bodyPr/>
                    <a:lstStyle/>
                    <a:p>
                      <a:r>
                        <a:rPr sz="1800" b="1">
                          <a:solidFill>
                            <a:srgbClr val="FFFFFF"/>
                          </a:solidFill>
                          <a:latin typeface="Malgun Gothic"/>
                          <a:ea typeface="Malgun Gothic"/>
                          <a:cs typeface="Malgun Gothic"/>
                        </a:rPr>
                        <a:t>개발 목표</a:t>
                      </a:r>
                    </a:p>
                  </a:txBody>
                  <a:tcPr marL="171450" marR="171450" marT="114300" marB="114300" anchor="ctr">
                    <a:solidFill>
                      <a:srgbClr val="173C32"/>
                    </a:solidFill>
                  </a:tcPr>
                </a:tc>
                <a:tc>
                  <a:txBody>
                    <a:bodyPr/>
                    <a:lstStyle/>
                    <a:p>
                      <a:r>
                        <a:rPr sz="1800" b="1">
                          <a:solidFill>
                            <a:srgbClr val="FFFFFF"/>
                          </a:solidFill>
                          <a:latin typeface="Malgun Gothic"/>
                          <a:ea typeface="Malgun Gothic"/>
                          <a:cs typeface="Malgun Gothic"/>
                        </a:rPr>
                        <a:t>확인할 결과</a:t>
                      </a:r>
                    </a:p>
                  </a:txBody>
                  <a:tcPr marL="171450" marR="171450" marT="114300" marB="114300" anchor="ctr">
                    <a:solidFill>
                      <a:srgbClr val="173C32"/>
                    </a:solidFill>
                  </a:tcPr>
                </a:tc>
              </a:tr>
              <a:tr h="1041400">
                <a:tc>
                  <a:txBody>
                    <a:bodyPr/>
                    <a:lstStyle/>
                    <a:p>
                      <a:r>
                        <a:rPr sz="1800" b="0">
                          <a:solidFill>
                            <a:srgbClr val="173C32"/>
                          </a:solidFill>
                          <a:latin typeface="Malgun Gothic"/>
                          <a:ea typeface="Malgun Gothic"/>
                          <a:cs typeface="Malgun Gothic"/>
                        </a:rPr>
                        <a:t>9월 28일 중간발표</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핵심 흐름 데모와 기획 검토</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사용자 의견과 기술 선택</a:t>
                      </a:r>
                    </a:p>
                  </a:txBody>
                  <a:tcPr marL="171450" marR="171450" marT="114300" marB="114300" anchor="ctr">
                    <a:solidFill>
                      <a:srgbClr val="FFFFFF"/>
                    </a:solidFill>
                  </a:tcPr>
                </a:tc>
              </a:tr>
              <a:tr h="1041400">
                <a:tc>
                  <a:txBody>
                    <a:bodyPr/>
                    <a:lstStyle/>
                    <a:p>
                      <a:r>
                        <a:rPr sz="1800" b="0">
                          <a:solidFill>
                            <a:srgbClr val="173C32"/>
                          </a:solidFill>
                          <a:latin typeface="Malgun Gothic"/>
                          <a:ea typeface="Malgun Gothic"/>
                          <a:cs typeface="Malgun Gothic"/>
                        </a:rPr>
                        <a:t>본선 전</a:t>
                      </a:r>
                    </a:p>
                  </a:txBody>
                  <a:tcPr marL="171450" marR="171450" marT="114300" marB="114300" anchor="ctr">
                    <a:solidFill>
                      <a:srgbClr val="EFF3E8"/>
                    </a:solidFill>
                  </a:tcPr>
                </a:tc>
                <a:tc>
                  <a:txBody>
                    <a:bodyPr/>
                    <a:lstStyle/>
                    <a:p>
                      <a:r>
                        <a:rPr sz="1800" b="0">
                          <a:solidFill>
                            <a:srgbClr val="173C32"/>
                          </a:solidFill>
                          <a:latin typeface="Malgun Gothic"/>
                          <a:ea typeface="Malgun Gothic"/>
                          <a:cs typeface="Malgun Gothic"/>
                        </a:rPr>
                        <a:t>주변 20~30곳 정보 확보 목표</a:t>
                      </a:r>
                    </a:p>
                    <a:p>
                      <a:r>
                        <a:rPr sz="1800" b="0">
                          <a:solidFill>
                            <a:srgbClr val="173C32"/>
                          </a:solidFill>
                          <a:latin typeface="Malgun Gothic"/>
                          <a:ea typeface="Malgun Gothic"/>
                          <a:cs typeface="Malgun Gothic"/>
                        </a:rPr>
                        <a:t>실제 그룹 참여와 투표 구현</a:t>
                      </a:r>
                    </a:p>
                  </a:txBody>
                  <a:tcPr marL="171450" marR="171450" marT="114300" marB="114300" anchor="ctr">
                    <a:solidFill>
                      <a:srgbClr val="EFF3E8"/>
                    </a:solidFill>
                  </a:tcPr>
                </a:tc>
                <a:tc>
                  <a:txBody>
                    <a:bodyPr/>
                    <a:lstStyle/>
                    <a:p>
                      <a:r>
                        <a:rPr sz="1800" b="0">
                          <a:solidFill>
                            <a:srgbClr val="173C32"/>
                          </a:solidFill>
                          <a:latin typeface="Malgun Gothic"/>
                          <a:ea typeface="Malgun Gothic"/>
                          <a:cs typeface="Malgun Gothic"/>
                        </a:rPr>
                        <a:t>메뉴·가격 출처와 데이터 저장</a:t>
                      </a:r>
                    </a:p>
                  </a:txBody>
                  <a:tcPr marL="171450" marR="171450" marT="114300" marB="114300" anchor="ctr">
                    <a:solidFill>
                      <a:srgbClr val="EFF3E8"/>
                    </a:solidFill>
                  </a:tcPr>
                </a:tc>
              </a:tr>
              <a:tr h="1041400">
                <a:tc>
                  <a:txBody>
                    <a:bodyPr/>
                    <a:lstStyle/>
                    <a:p>
                      <a:r>
                        <a:rPr sz="1800" b="0">
                          <a:solidFill>
                            <a:srgbClr val="173C32"/>
                          </a:solidFill>
                          <a:latin typeface="Malgun Gothic"/>
                          <a:ea typeface="Malgun Gothic"/>
                          <a:cs typeface="Malgun Gothic"/>
                        </a:rPr>
                        <a:t>10월 8~9일 본선</a:t>
                      </a:r>
                    </a:p>
                    <a:p>
                      <a:r>
                        <a:rPr sz="1800" b="0">
                          <a:solidFill>
                            <a:srgbClr val="173C32"/>
                          </a:solidFill>
                          <a:latin typeface="Malgun Gothic"/>
                          <a:ea typeface="Malgun Gothic"/>
                          <a:cs typeface="Malgun Gothic"/>
                        </a:rPr>
                        <a:t>10월 11~13일 전시</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실제 데이터 테스트</a:t>
                      </a:r>
                    </a:p>
                    <a:p>
                      <a:r>
                        <a:rPr sz="1800" b="0">
                          <a:solidFill>
                            <a:srgbClr val="173C32"/>
                          </a:solidFill>
                          <a:latin typeface="Malgun Gothic"/>
                          <a:ea typeface="Malgun Gothic"/>
                          <a:cs typeface="Malgun Gothic"/>
                        </a:rPr>
                        <a:t>주민 피드백 반영</a:t>
                      </a:r>
                    </a:p>
                  </a:txBody>
                  <a:tcPr marL="171450" marR="171450" marT="114300" marB="114300" anchor="ctr">
                    <a:solidFill>
                      <a:srgbClr val="FFFFFF"/>
                    </a:solidFill>
                  </a:tcPr>
                </a:tc>
                <a:tc>
                  <a:txBody>
                    <a:bodyPr/>
                    <a:lstStyle/>
                    <a:p>
                      <a:r>
                        <a:rPr sz="1800" b="0">
                          <a:solidFill>
                            <a:srgbClr val="173C32"/>
                          </a:solidFill>
                          <a:latin typeface="Malgun Gothic"/>
                          <a:ea typeface="Malgun Gothic"/>
                          <a:cs typeface="Malgun Gothic"/>
                        </a:rPr>
                        <a:t>결정 시간과 투표 완료율</a:t>
                      </a:r>
                    </a:p>
                    <a:p>
                      <a:r>
                        <a:rPr sz="1800" b="0">
                          <a:solidFill>
                            <a:srgbClr val="173C32"/>
                          </a:solidFill>
                          <a:latin typeface="Malgun Gothic"/>
                          <a:ea typeface="Malgun Gothic"/>
                          <a:cs typeface="Malgun Gothic"/>
                        </a:rPr>
                        <a:t>정보 갱신율</a:t>
                      </a:r>
                    </a:p>
                  </a:txBody>
                  <a:tcPr marL="171450" marR="171450" marT="114300" marB="114300" anchor="ctr">
                    <a:solidFill>
                      <a:srgbClr val="FFFFFF"/>
                    </a:solidFill>
                  </a:tcPr>
                </a:tc>
              </a:tr>
            </a:tbl>
          </a:graphicData>
        </a:graphic>
      </p:graphicFrame>
      <p:sp>
        <p:nvSpPr>
          <p:cNvPr id="4" name="학생의 식당 선택을 돕고&#10;골목 가게의 최신 정보를 함께 쌓겠습니">
            <a:extLst xmlns:a="http://schemas.openxmlformats.org/drawingml/2006/main">
              <a:ext uri="{FF2B5EF4-FFF2-40B4-BE49-F238E27FC236}">
                <a16:creationId xmlns:a16="http://schemas.microsoft.com/office/drawing/2014/main" id="{12A51F51-52E9-46EE-B826-0D003177A9AF}"/>
              </a:ext>
            </a:extLst>
          </p:cNvPr>
          <p:cNvSpPr>
            <a:spLocks xmlns:a="http://schemas.openxmlformats.org/drawingml/2006/main" noGrp="1"/>
          </p:cNvSpPr>
          <p:nvPr/>
        </p:nvSpPr>
        <p:spPr>
          <a:xfrm xmlns:a="http://schemas.openxmlformats.org/drawingml/2006/main">
            <a:off x="619125" y="5581650"/>
            <a:ext cx="108299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2"/>
                </a:solidFill>
                <a:latin typeface="Malgun Gothic"/>
                <a:ea typeface="Malgun Gothic"/>
                <a:cs typeface="Malgun Gothic"/>
              </a:defRPr>
            </a:pPr>
            <a:r>
              <a:rPr sz="2250" b="1">
                <a:solidFill>
                  <a:srgbClr val="173C32"/>
                </a:solidFill>
                <a:latin typeface="Malgun Gothic"/>
                <a:ea typeface="Malgun Gothic"/>
                <a:cs typeface="Malgun Gothic"/>
              </a:rPr>
              <a:t>학생의 식당 선택을 돕고</a:t>
            </a:r>
          </a:p>
          <a:p xmlns:a="http://schemas.openxmlformats.org/drawingml/2006/main">
            <a:pPr>
              <a:defRPr sz="2250" b="1">
                <a:solidFill>
                  <a:srgbClr val="173C32"/>
                </a:solidFill>
                <a:latin typeface="Malgun Gothic"/>
                <a:ea typeface="Malgun Gothic"/>
                <a:cs typeface="Malgun Gothic"/>
              </a:defRPr>
            </a:pPr>
            <a:r>
              <a:rPr sz="2250" b="1">
                <a:solidFill>
                  <a:srgbClr val="173C32"/>
                </a:solidFill>
                <a:latin typeface="Malgun Gothic"/>
                <a:ea typeface="Malgun Gothic"/>
                <a:cs typeface="Malgun Gothic"/>
              </a:rPr>
              <a:t>골목 가게의 최신 정보를 함께 쌓겠습니다</a:t>
            </a:r>
          </a:p>
        </p:txBody>
      </p:sp>
    </p:spTree>
    <p:extLst>
      <p:ext uri="{BB962C8B-B14F-4D97-AF65-F5344CB8AC3E}">
        <p14:creationId xmlns:p14="http://schemas.microsoft.com/office/powerpoint/2010/main" val="381635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2026-09-25T13:35:37.4000000Z</dcterms:created>
  <dcterms:modified xsi:type="dcterms:W3CDTF">2026-09-25T13:35:37.4000000Z</dcterms:modified>
</coreProperties>
</file>